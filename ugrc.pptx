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Commissioner" panose="020B0604020202020204" charset="0"/>
      <p:regular r:id="rId36"/>
      <p:bold r:id="rId37"/>
    </p:embeddedFont>
    <p:embeddedFont>
      <p:font typeface="Golos Text" panose="020B0604020202020204" charset="0"/>
      <p:regular r:id="rId38"/>
      <p:bold r:id="rId39"/>
    </p:embeddedFont>
    <p:embeddedFont>
      <p:font typeface="Golos Text SemiBold" panose="020B060402020202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747bfd1ed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747bfd1ed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747bfd1ede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747bfd1ede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336d459b9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336d459b9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3b627a12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3b627a12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a30e0bcd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a30e0bcd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a98ef60c7_2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a98ef60c7_2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5a98ef60c7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5a98ef60c7_2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75584fc2f6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75584fc2f6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5a98ef60c7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5a98ef60c7_2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a30e0bcdc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a30e0bcdc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5a98ef60c7_2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5a98ef60c7_2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5a98ef60c7_2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5a98ef60c7_2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5a98ef60c7_2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5a98ef60c7_2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ad554f38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ad554f38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d554f381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ad554f381d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ad554f381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ad554f381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5a98ef60c7_2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5a98ef60c7_2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d5a989210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ad5a989210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ad5a989210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ad5a989210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ad0435622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ad04356229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31ff7c0f5b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131ff7c0f5b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5a98ef60c7_2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5a98ef60c7_2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ad5a989210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ad5a989210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ad5a989210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ad5a989210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d5a989210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ad5a989210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ad5a989210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ad5a989210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ad5a989210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ad5a989210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ad5a989210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ad5a989210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ad5a989210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ad5a989210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ik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/>
          <p:nvPr/>
        </p:nvSpPr>
        <p:spPr>
          <a:xfrm flipH="1">
            <a:off x="0" y="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" name="Google Shape;26;p4"/>
          <p:cNvGrpSpPr/>
          <p:nvPr/>
        </p:nvGrpSpPr>
        <p:grpSpPr>
          <a:xfrm>
            <a:off x="150" y="0"/>
            <a:ext cx="8860050" cy="4876025"/>
            <a:chOff x="150" y="0"/>
            <a:chExt cx="8860050" cy="4876025"/>
          </a:xfrm>
        </p:grpSpPr>
        <p:cxnSp>
          <p:nvCxnSpPr>
            <p:cNvPr id="27" name="Google Shape;27;p4"/>
            <p:cNvCxnSpPr/>
            <p:nvPr/>
          </p:nvCxnSpPr>
          <p:spPr>
            <a:xfrm>
              <a:off x="8860200" y="0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4"/>
            <p:cNvCxnSpPr/>
            <p:nvPr/>
          </p:nvCxnSpPr>
          <p:spPr>
            <a:xfrm rot="10800000">
              <a:off x="150" y="4876025"/>
              <a:ext cx="8444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2954672" y="2027976"/>
            <a:ext cx="43122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2954672" y="1519425"/>
            <a:ext cx="43122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2954649" y="3619500"/>
            <a:ext cx="43122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2954649" y="3110949"/>
            <a:ext cx="43122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/>
          <p:nvPr/>
        </p:nvSpPr>
        <p:spPr>
          <a:xfrm flipH="1"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6" name="Google Shape;36;p5"/>
          <p:cNvCxnSpPr/>
          <p:nvPr/>
        </p:nvCxnSpPr>
        <p:spPr>
          <a:xfrm rot="10800000">
            <a:off x="8864825" y="0"/>
            <a:ext cx="0" cy="413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" name="Google Shape;40;p6"/>
          <p:cNvGrpSpPr/>
          <p:nvPr/>
        </p:nvGrpSpPr>
        <p:grpSpPr>
          <a:xfrm>
            <a:off x="141900" y="-26"/>
            <a:ext cx="9002025" cy="4876051"/>
            <a:chOff x="141900" y="-26"/>
            <a:chExt cx="9002025" cy="4876051"/>
          </a:xfrm>
        </p:grpSpPr>
        <p:cxnSp>
          <p:nvCxnSpPr>
            <p:cNvPr id="41" name="Google Shape;41;p6"/>
            <p:cNvCxnSpPr/>
            <p:nvPr/>
          </p:nvCxnSpPr>
          <p:spPr>
            <a:xfrm>
              <a:off x="4576425" y="4876025"/>
              <a:ext cx="4567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42;p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713225" y="519075"/>
            <a:ext cx="2789700" cy="197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ubTitle" idx="1"/>
          </p:nvPr>
        </p:nvSpPr>
        <p:spPr>
          <a:xfrm>
            <a:off x="713225" y="2558881"/>
            <a:ext cx="2789700" cy="13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7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" name="Google Shape;48;p7"/>
          <p:cNvGrpSpPr/>
          <p:nvPr/>
        </p:nvGrpSpPr>
        <p:grpSpPr>
          <a:xfrm>
            <a:off x="0" y="-300"/>
            <a:ext cx="3812275" cy="4608875"/>
            <a:chOff x="0" y="-300"/>
            <a:chExt cx="3812275" cy="4608875"/>
          </a:xfrm>
        </p:grpSpPr>
        <p:cxnSp>
          <p:nvCxnSpPr>
            <p:cNvPr id="49" name="Google Shape;49;p7"/>
            <p:cNvCxnSpPr/>
            <p:nvPr/>
          </p:nvCxnSpPr>
          <p:spPr>
            <a:xfrm rot="10800000">
              <a:off x="3812275" y="-300"/>
              <a:ext cx="0" cy="699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" name="Google Shape;50;p7"/>
            <p:cNvCxnSpPr/>
            <p:nvPr/>
          </p:nvCxnSpPr>
          <p:spPr>
            <a:xfrm>
              <a:off x="0" y="4608575"/>
              <a:ext cx="338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1864800" y="1219025"/>
            <a:ext cx="5414400" cy="22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53" name="Google Shape;53;p8"/>
          <p:cNvSpPr/>
          <p:nvPr/>
        </p:nvSpPr>
        <p:spPr>
          <a:xfrm flipH="1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" name="Google Shape;54;p8"/>
          <p:cNvGrpSpPr/>
          <p:nvPr/>
        </p:nvGrpSpPr>
        <p:grpSpPr>
          <a:xfrm flipH="1">
            <a:off x="-55200" y="539500"/>
            <a:ext cx="9199200" cy="4604000"/>
            <a:chOff x="-55375" y="539500"/>
            <a:chExt cx="9199200" cy="4604000"/>
          </a:xfrm>
        </p:grpSpPr>
        <p:cxnSp>
          <p:nvCxnSpPr>
            <p:cNvPr id="55" name="Google Shape;55;p8"/>
            <p:cNvCxnSpPr/>
            <p:nvPr/>
          </p:nvCxnSpPr>
          <p:spPr>
            <a:xfrm>
              <a:off x="-55375" y="4608575"/>
              <a:ext cx="5659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56;p8"/>
            <p:cNvCxnSpPr/>
            <p:nvPr/>
          </p:nvCxnSpPr>
          <p:spPr>
            <a:xfrm>
              <a:off x="4502525" y="539500"/>
              <a:ext cx="4641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7;p8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1962900" y="829786"/>
            <a:ext cx="52182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1962900" y="2282714"/>
            <a:ext cx="5218200" cy="20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61" name="Google Shape;61;p9"/>
          <p:cNvSpPr/>
          <p:nvPr/>
        </p:nvSpPr>
        <p:spPr>
          <a:xfrm>
            <a:off x="75" y="4426700"/>
            <a:ext cx="9144000" cy="71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9"/>
          <p:cNvGrpSpPr/>
          <p:nvPr/>
        </p:nvGrpSpPr>
        <p:grpSpPr>
          <a:xfrm>
            <a:off x="712700" y="539500"/>
            <a:ext cx="8431300" cy="4604000"/>
            <a:chOff x="712700" y="539500"/>
            <a:chExt cx="8431300" cy="4604000"/>
          </a:xfrm>
        </p:grpSpPr>
        <p:cxnSp>
          <p:nvCxnSpPr>
            <p:cNvPr id="63" name="Google Shape;63;p9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9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713225" y="3946875"/>
            <a:ext cx="77175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 hasCustomPrompt="1"/>
          </p:nvPr>
        </p:nvSpPr>
        <p:spPr>
          <a:xfrm>
            <a:off x="1604400" y="1354558"/>
            <a:ext cx="5935200" cy="184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7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>
            <a:spLocks noGrp="1"/>
          </p:cNvSpPr>
          <p:nvPr>
            <p:ph type="subTitle" idx="1"/>
          </p:nvPr>
        </p:nvSpPr>
        <p:spPr>
          <a:xfrm>
            <a:off x="1604400" y="3199142"/>
            <a:ext cx="5935200" cy="5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71" name="Google Shape;71;p11"/>
          <p:cNvSpPr/>
          <p:nvPr/>
        </p:nvSpPr>
        <p:spPr>
          <a:xfrm rot="10800000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" name="Google Shape;72;p11"/>
          <p:cNvGrpSpPr/>
          <p:nvPr/>
        </p:nvGrpSpPr>
        <p:grpSpPr>
          <a:xfrm rot="10800000">
            <a:off x="-55325" y="0"/>
            <a:ext cx="9199325" cy="4604000"/>
            <a:chOff x="-55375" y="539500"/>
            <a:chExt cx="9199325" cy="4604000"/>
          </a:xfrm>
        </p:grpSpPr>
        <p:cxnSp>
          <p:nvCxnSpPr>
            <p:cNvPr id="73" name="Google Shape;73;p11"/>
            <p:cNvCxnSpPr/>
            <p:nvPr/>
          </p:nvCxnSpPr>
          <p:spPr>
            <a:xfrm>
              <a:off x="-55375" y="4608575"/>
              <a:ext cx="4563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74;p11"/>
            <p:cNvCxnSpPr/>
            <p:nvPr/>
          </p:nvCxnSpPr>
          <p:spPr>
            <a:xfrm>
              <a:off x="2576350" y="539500"/>
              <a:ext cx="6567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Google Shape;75;p11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3" hasCustomPrompt="1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6" hasCustomPrompt="1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7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8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3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4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cxnSp>
        <p:nvCxnSpPr>
          <p:cNvPr id="91" name="Google Shape;91;p1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83150" y="3920175"/>
            <a:ext cx="75777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1"/>
          </p:nvPr>
        </p:nvSpPr>
        <p:spPr>
          <a:xfrm>
            <a:off x="783150" y="1722374"/>
            <a:ext cx="7577700" cy="212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cxnSp>
        <p:nvCxnSpPr>
          <p:cNvPr id="95" name="Google Shape;95;p14"/>
          <p:cNvCxnSpPr/>
          <p:nvPr/>
        </p:nvCxnSpPr>
        <p:spPr>
          <a:xfrm rot="10800000">
            <a:off x="75" y="4876025"/>
            <a:ext cx="825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 flipH="1">
            <a:off x="2052825" y="2036300"/>
            <a:ext cx="55791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 flipH="1">
            <a:off x="2052825" y="3573275"/>
            <a:ext cx="55791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00" name="Google Shape;100;p15"/>
          <p:cNvSpPr/>
          <p:nvPr/>
        </p:nvSpPr>
        <p:spPr>
          <a:xfrm flipH="1">
            <a:off x="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5"/>
          <p:cNvCxnSpPr/>
          <p:nvPr/>
        </p:nvCxnSpPr>
        <p:spPr>
          <a:xfrm rot="10800000">
            <a:off x="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2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1"/>
          </p:nvPr>
        </p:nvSpPr>
        <p:spPr>
          <a:xfrm>
            <a:off x="713225" y="358247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575103"/>
            <a:ext cx="2400300" cy="8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6" name="Google Shape;106;p16"/>
          <p:cNvSpPr txBox="1">
            <a:spLocks noGrp="1"/>
          </p:cNvSpPr>
          <p:nvPr>
            <p:ph type="subTitle" idx="3"/>
          </p:nvPr>
        </p:nvSpPr>
        <p:spPr>
          <a:xfrm>
            <a:off x="713225" y="2654575"/>
            <a:ext cx="24003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4"/>
          </p:nvPr>
        </p:nvSpPr>
        <p:spPr>
          <a:xfrm>
            <a:off x="6030475" y="358247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title" idx="5" hasCustomPrompt="1"/>
          </p:nvPr>
        </p:nvSpPr>
        <p:spPr>
          <a:xfrm>
            <a:off x="6030475" y="1575103"/>
            <a:ext cx="2400300" cy="8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9" name="Google Shape;109;p16"/>
          <p:cNvSpPr txBox="1">
            <a:spLocks noGrp="1"/>
          </p:cNvSpPr>
          <p:nvPr>
            <p:ph type="subTitle" idx="6"/>
          </p:nvPr>
        </p:nvSpPr>
        <p:spPr>
          <a:xfrm>
            <a:off x="6030475" y="2654575"/>
            <a:ext cx="24003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subTitle" idx="7"/>
          </p:nvPr>
        </p:nvSpPr>
        <p:spPr>
          <a:xfrm>
            <a:off x="3371850" y="358247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title" idx="8" hasCustomPrompt="1"/>
          </p:nvPr>
        </p:nvSpPr>
        <p:spPr>
          <a:xfrm>
            <a:off x="3371850" y="1575103"/>
            <a:ext cx="2400300" cy="8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2" name="Google Shape;112;p16"/>
          <p:cNvSpPr txBox="1">
            <a:spLocks noGrp="1"/>
          </p:cNvSpPr>
          <p:nvPr>
            <p:ph type="subTitle" idx="9"/>
          </p:nvPr>
        </p:nvSpPr>
        <p:spPr>
          <a:xfrm>
            <a:off x="3371850" y="2654575"/>
            <a:ext cx="24003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cxnSp>
        <p:nvCxnSpPr>
          <p:cNvPr id="113" name="Google Shape;113;p16"/>
          <p:cNvCxnSpPr/>
          <p:nvPr/>
        </p:nvCxnSpPr>
        <p:spPr>
          <a:xfrm rot="10800000">
            <a:off x="5035800" y="4797575"/>
            <a:ext cx="410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_1_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subTitle" idx="1"/>
          </p:nvPr>
        </p:nvSpPr>
        <p:spPr>
          <a:xfrm>
            <a:off x="2370900" y="1278125"/>
            <a:ext cx="44022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title" hasCustomPrompt="1"/>
          </p:nvPr>
        </p:nvSpPr>
        <p:spPr>
          <a:xfrm>
            <a:off x="2370900" y="572825"/>
            <a:ext cx="44022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7" name="Google Shape;117;p17"/>
          <p:cNvSpPr txBox="1">
            <a:spLocks noGrp="1"/>
          </p:cNvSpPr>
          <p:nvPr>
            <p:ph type="subTitle" idx="2"/>
          </p:nvPr>
        </p:nvSpPr>
        <p:spPr>
          <a:xfrm>
            <a:off x="2370900" y="4087875"/>
            <a:ext cx="44022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title" idx="3" hasCustomPrompt="1"/>
          </p:nvPr>
        </p:nvSpPr>
        <p:spPr>
          <a:xfrm>
            <a:off x="2370900" y="3382575"/>
            <a:ext cx="44022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9" name="Google Shape;119;p17"/>
          <p:cNvSpPr txBox="1">
            <a:spLocks noGrp="1"/>
          </p:cNvSpPr>
          <p:nvPr>
            <p:ph type="subTitle" idx="4"/>
          </p:nvPr>
        </p:nvSpPr>
        <p:spPr>
          <a:xfrm>
            <a:off x="2370900" y="2683000"/>
            <a:ext cx="44022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 idx="5" hasCustomPrompt="1"/>
          </p:nvPr>
        </p:nvSpPr>
        <p:spPr>
          <a:xfrm>
            <a:off x="2370900" y="1977700"/>
            <a:ext cx="44022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711250" y="-125"/>
            <a:ext cx="7719525" cy="5143625"/>
            <a:chOff x="711250" y="-125"/>
            <a:chExt cx="7719525" cy="5143625"/>
          </a:xfrm>
        </p:grpSpPr>
        <p:cxnSp>
          <p:nvCxnSpPr>
            <p:cNvPr id="122" name="Google Shape;122;p17"/>
            <p:cNvCxnSpPr/>
            <p:nvPr/>
          </p:nvCxnSpPr>
          <p:spPr>
            <a:xfrm rot="10800000">
              <a:off x="711250" y="2191500"/>
              <a:ext cx="0" cy="295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" name="Google Shape;123;p17"/>
            <p:cNvCxnSpPr/>
            <p:nvPr/>
          </p:nvCxnSpPr>
          <p:spPr>
            <a:xfrm rot="10800000">
              <a:off x="8430775" y="-125"/>
              <a:ext cx="0" cy="2191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_1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126" name="Google Shape;126;p18"/>
          <p:cNvGrpSpPr/>
          <p:nvPr/>
        </p:nvGrpSpPr>
        <p:grpSpPr>
          <a:xfrm flipH="1">
            <a:off x="0" y="4876025"/>
            <a:ext cx="9144000" cy="267600"/>
            <a:chOff x="0" y="4876025"/>
            <a:chExt cx="9144000" cy="267600"/>
          </a:xfrm>
        </p:grpSpPr>
        <p:sp>
          <p:nvSpPr>
            <p:cNvPr id="127" name="Google Shape;127;p18"/>
            <p:cNvSpPr/>
            <p:nvPr/>
          </p:nvSpPr>
          <p:spPr>
            <a:xfrm>
              <a:off x="0" y="4876025"/>
              <a:ext cx="9144000" cy="26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8" name="Google Shape;128;p1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_1_2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cxnSp>
        <p:nvCxnSpPr>
          <p:cNvPr id="131" name="Google Shape;131;p19"/>
          <p:cNvCxnSpPr/>
          <p:nvPr/>
        </p:nvCxnSpPr>
        <p:spPr>
          <a:xfrm>
            <a:off x="0" y="262400"/>
            <a:ext cx="228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_1_1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0" y="0"/>
            <a:ext cx="9144075" cy="5143500"/>
            <a:chOff x="0" y="0"/>
            <a:chExt cx="9144075" cy="5143500"/>
          </a:xfrm>
        </p:grpSpPr>
        <p:sp>
          <p:nvSpPr>
            <p:cNvPr id="134" name="Google Shape;134;p20"/>
            <p:cNvSpPr/>
            <p:nvPr/>
          </p:nvSpPr>
          <p:spPr>
            <a:xfrm>
              <a:off x="4185975" y="4426700"/>
              <a:ext cx="4958100" cy="71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>
              <a:off x="0" y="0"/>
              <a:ext cx="852900" cy="514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4082225" y="544275"/>
            <a:ext cx="4224300" cy="12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92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subTitle" idx="1"/>
          </p:nvPr>
        </p:nvSpPr>
        <p:spPr>
          <a:xfrm>
            <a:off x="4082150" y="1747875"/>
            <a:ext cx="4224300" cy="25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grpSp>
        <p:nvGrpSpPr>
          <p:cNvPr id="138" name="Google Shape;138;p20"/>
          <p:cNvGrpSpPr/>
          <p:nvPr/>
        </p:nvGrpSpPr>
        <p:grpSpPr>
          <a:xfrm>
            <a:off x="150" y="539500"/>
            <a:ext cx="8430625" cy="4604000"/>
            <a:chOff x="150" y="539500"/>
            <a:chExt cx="8430625" cy="4604000"/>
          </a:xfrm>
        </p:grpSpPr>
        <p:cxnSp>
          <p:nvCxnSpPr>
            <p:cNvPr id="139" name="Google Shape;139;p20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" name="Google Shape;140;p20"/>
            <p:cNvCxnSpPr/>
            <p:nvPr/>
          </p:nvCxnSpPr>
          <p:spPr>
            <a:xfrm rot="10800000">
              <a:off x="150" y="539500"/>
              <a:ext cx="4336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1" name="Google Shape;141;p20"/>
          <p:cNvSpPr>
            <a:spLocks noGrp="1"/>
          </p:cNvSpPr>
          <p:nvPr>
            <p:ph type="pic" idx="2"/>
          </p:nvPr>
        </p:nvSpPr>
        <p:spPr>
          <a:xfrm>
            <a:off x="592075" y="544275"/>
            <a:ext cx="3312000" cy="3884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body" idx="1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Char char="■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/>
          <p:nvPr/>
        </p:nvSpPr>
        <p:spPr>
          <a:xfrm flipH="1">
            <a:off x="0" y="487590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" name="Google Shape;146;p21"/>
          <p:cNvGrpSpPr/>
          <p:nvPr/>
        </p:nvGrpSpPr>
        <p:grpSpPr>
          <a:xfrm>
            <a:off x="276825" y="267475"/>
            <a:ext cx="8860200" cy="4876025"/>
            <a:chOff x="276825" y="267475"/>
            <a:chExt cx="8860200" cy="4876025"/>
          </a:xfrm>
        </p:grpSpPr>
        <p:cxnSp>
          <p:nvCxnSpPr>
            <p:cNvPr id="147" name="Google Shape;147;p21"/>
            <p:cNvCxnSpPr/>
            <p:nvPr/>
          </p:nvCxnSpPr>
          <p:spPr>
            <a:xfrm rot="10800000">
              <a:off x="276825" y="2571900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Google Shape;148;p21"/>
            <p:cNvCxnSpPr/>
            <p:nvPr/>
          </p:nvCxnSpPr>
          <p:spPr>
            <a:xfrm>
              <a:off x="4565025" y="267475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_1_1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948325" y="1185562"/>
            <a:ext cx="4863300" cy="8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subTitle" idx="1"/>
          </p:nvPr>
        </p:nvSpPr>
        <p:spPr>
          <a:xfrm>
            <a:off x="948325" y="2112038"/>
            <a:ext cx="4863300" cy="18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2" name="Google Shape;152;p22"/>
          <p:cNvSpPr/>
          <p:nvPr/>
        </p:nvSpPr>
        <p:spPr>
          <a:xfrm rot="10800000" flipH="1"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" name="Google Shape;153;p22"/>
          <p:cNvGrpSpPr/>
          <p:nvPr/>
        </p:nvGrpSpPr>
        <p:grpSpPr>
          <a:xfrm rot="10800000" flipH="1">
            <a:off x="-55375" y="0"/>
            <a:ext cx="9199250" cy="4604000"/>
            <a:chOff x="-55375" y="539500"/>
            <a:chExt cx="9199250" cy="4604000"/>
          </a:xfrm>
        </p:grpSpPr>
        <p:cxnSp>
          <p:nvCxnSpPr>
            <p:cNvPr id="154" name="Google Shape;154;p22"/>
            <p:cNvCxnSpPr/>
            <p:nvPr/>
          </p:nvCxnSpPr>
          <p:spPr>
            <a:xfrm>
              <a:off x="-55375" y="4608575"/>
              <a:ext cx="4571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" name="Google Shape;155;p22"/>
            <p:cNvCxnSpPr/>
            <p:nvPr/>
          </p:nvCxnSpPr>
          <p:spPr>
            <a:xfrm>
              <a:off x="4585075" y="539500"/>
              <a:ext cx="455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" name="Google Shape;156;p2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1_1_1_1_1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>
            <a:spLocks noGrp="1"/>
          </p:cNvSpPr>
          <p:nvPr>
            <p:ph type="title"/>
          </p:nvPr>
        </p:nvSpPr>
        <p:spPr>
          <a:xfrm>
            <a:off x="1262175" y="1023602"/>
            <a:ext cx="2890500" cy="16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subTitle" idx="1"/>
          </p:nvPr>
        </p:nvSpPr>
        <p:spPr>
          <a:xfrm>
            <a:off x="1262175" y="2702272"/>
            <a:ext cx="2890500" cy="14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3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1" name="Google Shape;161;p23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162" name="Google Shape;162;p23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" name="Google Shape;163;p23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_1_1_1_1_1_1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xfrm>
            <a:off x="4746800" y="1023600"/>
            <a:ext cx="2630100" cy="15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subTitle" idx="1"/>
          </p:nvPr>
        </p:nvSpPr>
        <p:spPr>
          <a:xfrm>
            <a:off x="4746800" y="2545055"/>
            <a:ext cx="2630100" cy="15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7" name="Google Shape;167;p24"/>
          <p:cNvGrpSpPr/>
          <p:nvPr/>
        </p:nvGrpSpPr>
        <p:grpSpPr>
          <a:xfrm flipH="1">
            <a:off x="0" y="0"/>
            <a:ext cx="9144075" cy="5143500"/>
            <a:chOff x="0" y="0"/>
            <a:chExt cx="9144075" cy="5143500"/>
          </a:xfrm>
        </p:grpSpPr>
        <p:grpSp>
          <p:nvGrpSpPr>
            <p:cNvPr id="168" name="Google Shape;168;p24"/>
            <p:cNvGrpSpPr/>
            <p:nvPr/>
          </p:nvGrpSpPr>
          <p:grpSpPr>
            <a:xfrm>
              <a:off x="0" y="0"/>
              <a:ext cx="9144075" cy="5143500"/>
              <a:chOff x="0" y="0"/>
              <a:chExt cx="9144075" cy="5143500"/>
            </a:xfrm>
          </p:grpSpPr>
          <p:sp>
            <p:nvSpPr>
              <p:cNvPr id="169" name="Google Shape;169;p24"/>
              <p:cNvSpPr/>
              <p:nvPr/>
            </p:nvSpPr>
            <p:spPr>
              <a:xfrm>
                <a:off x="4185975" y="4608575"/>
                <a:ext cx="4958100" cy="529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24"/>
              <p:cNvSpPr/>
              <p:nvPr/>
            </p:nvSpPr>
            <p:spPr>
              <a:xfrm>
                <a:off x="0" y="0"/>
                <a:ext cx="852900" cy="5143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1" name="Google Shape;171;p24"/>
            <p:cNvGrpSpPr/>
            <p:nvPr/>
          </p:nvGrpSpPr>
          <p:grpSpPr>
            <a:xfrm>
              <a:off x="150" y="539500"/>
              <a:ext cx="8430625" cy="4604000"/>
              <a:chOff x="150" y="539500"/>
              <a:chExt cx="8430625" cy="4604000"/>
            </a:xfrm>
          </p:grpSpPr>
          <p:cxnSp>
            <p:nvCxnSpPr>
              <p:cNvPr id="172" name="Google Shape;172;p24"/>
              <p:cNvCxnSpPr/>
              <p:nvPr/>
            </p:nvCxnSpPr>
            <p:spPr>
              <a:xfrm rot="10800000">
                <a:off x="8430775" y="805200"/>
                <a:ext cx="0" cy="433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" name="Google Shape;173;p24"/>
              <p:cNvCxnSpPr/>
              <p:nvPr/>
            </p:nvCxnSpPr>
            <p:spPr>
              <a:xfrm rot="10800000">
                <a:off x="150" y="539500"/>
                <a:ext cx="433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3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body" idx="1"/>
          </p:nvPr>
        </p:nvSpPr>
        <p:spPr>
          <a:xfrm>
            <a:off x="713225" y="1682875"/>
            <a:ext cx="3780900" cy="27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body" idx="2"/>
          </p:nvPr>
        </p:nvSpPr>
        <p:spPr>
          <a:xfrm>
            <a:off x="4651325" y="1682875"/>
            <a:ext cx="3780900" cy="27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>
            <a:endParaRPr/>
          </a:p>
        </p:txBody>
      </p:sp>
      <p:sp>
        <p:nvSpPr>
          <p:cNvPr id="178" name="Google Shape;178;p25"/>
          <p:cNvSpPr txBox="1">
            <a:spLocks noGrp="1"/>
          </p:cNvSpPr>
          <p:nvPr>
            <p:ph type="subTitle" idx="3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5"/>
          <p:cNvSpPr/>
          <p:nvPr/>
        </p:nvSpPr>
        <p:spPr>
          <a:xfrm flipH="1">
            <a:off x="71340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" name="Google Shape;180;p25"/>
          <p:cNvGrpSpPr/>
          <p:nvPr/>
        </p:nvGrpSpPr>
        <p:grpSpPr>
          <a:xfrm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181" name="Google Shape;181;p25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25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3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6"/>
          <p:cNvSpPr txBox="1">
            <a:spLocks noGrp="1"/>
          </p:cNvSpPr>
          <p:nvPr>
            <p:ph type="subTitle" idx="1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6"/>
          <p:cNvSpPr txBox="1">
            <a:spLocks noGrp="1"/>
          </p:cNvSpPr>
          <p:nvPr>
            <p:ph type="subTitle" idx="2"/>
          </p:nvPr>
        </p:nvSpPr>
        <p:spPr>
          <a:xfrm>
            <a:off x="4836725" y="1964500"/>
            <a:ext cx="3200400" cy="18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6"/>
          <p:cNvSpPr/>
          <p:nvPr/>
        </p:nvSpPr>
        <p:spPr>
          <a:xfrm rot="10800000">
            <a:off x="8860200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" name="Google Shape;188;p26"/>
          <p:cNvGrpSpPr/>
          <p:nvPr/>
        </p:nvGrpSpPr>
        <p:grpSpPr>
          <a:xfrm rot="10800000">
            <a:off x="-125" y="267450"/>
            <a:ext cx="9002225" cy="4876050"/>
            <a:chOff x="141900" y="-26"/>
            <a:chExt cx="9002225" cy="4876050"/>
          </a:xfrm>
        </p:grpSpPr>
        <p:cxnSp>
          <p:nvCxnSpPr>
            <p:cNvPr id="189" name="Google Shape;189;p26"/>
            <p:cNvCxnSpPr/>
            <p:nvPr/>
          </p:nvCxnSpPr>
          <p:spPr>
            <a:xfrm>
              <a:off x="7404125" y="4876024"/>
              <a:ext cx="1740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2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7"/>
          <p:cNvSpPr txBox="1">
            <a:spLocks noGrp="1"/>
          </p:cNvSpPr>
          <p:nvPr>
            <p:ph type="subTitle" idx="1"/>
          </p:nvPr>
        </p:nvSpPr>
        <p:spPr>
          <a:xfrm>
            <a:off x="713263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7"/>
          <p:cNvSpPr txBox="1">
            <a:spLocks noGrp="1"/>
          </p:cNvSpPr>
          <p:nvPr>
            <p:ph type="subTitle" idx="2"/>
          </p:nvPr>
        </p:nvSpPr>
        <p:spPr>
          <a:xfrm>
            <a:off x="713263" y="2785375"/>
            <a:ext cx="2400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195" name="Google Shape;195;p27"/>
          <p:cNvSpPr txBox="1">
            <a:spLocks noGrp="1"/>
          </p:cNvSpPr>
          <p:nvPr>
            <p:ph type="subTitle" idx="3"/>
          </p:nvPr>
        </p:nvSpPr>
        <p:spPr>
          <a:xfrm>
            <a:off x="6030438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subTitle" idx="4"/>
          </p:nvPr>
        </p:nvSpPr>
        <p:spPr>
          <a:xfrm>
            <a:off x="6030438" y="2782400"/>
            <a:ext cx="2400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subTitle" idx="5"/>
          </p:nvPr>
        </p:nvSpPr>
        <p:spPr>
          <a:xfrm>
            <a:off x="3371850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7"/>
          <p:cNvSpPr txBox="1">
            <a:spLocks noGrp="1"/>
          </p:cNvSpPr>
          <p:nvPr>
            <p:ph type="subTitle" idx="6"/>
          </p:nvPr>
        </p:nvSpPr>
        <p:spPr>
          <a:xfrm>
            <a:off x="3371850" y="2782400"/>
            <a:ext cx="2400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5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8"/>
          <p:cNvSpPr txBox="1">
            <a:spLocks noGrp="1"/>
          </p:cNvSpPr>
          <p:nvPr>
            <p:ph type="subTitle" idx="1"/>
          </p:nvPr>
        </p:nvSpPr>
        <p:spPr>
          <a:xfrm>
            <a:off x="865625" y="3694227"/>
            <a:ext cx="22626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8"/>
          <p:cNvSpPr txBox="1">
            <a:spLocks noGrp="1"/>
          </p:cNvSpPr>
          <p:nvPr>
            <p:ph type="subTitle" idx="2"/>
          </p:nvPr>
        </p:nvSpPr>
        <p:spPr>
          <a:xfrm>
            <a:off x="865625" y="3103975"/>
            <a:ext cx="22626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03" name="Google Shape;203;p28"/>
          <p:cNvSpPr txBox="1">
            <a:spLocks noGrp="1"/>
          </p:cNvSpPr>
          <p:nvPr>
            <p:ph type="subTitle" idx="3"/>
          </p:nvPr>
        </p:nvSpPr>
        <p:spPr>
          <a:xfrm>
            <a:off x="6015775" y="3694227"/>
            <a:ext cx="22626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4"/>
          </p:nvPr>
        </p:nvSpPr>
        <p:spPr>
          <a:xfrm>
            <a:off x="6015775" y="3103975"/>
            <a:ext cx="22626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05" name="Google Shape;205;p28"/>
          <p:cNvSpPr txBox="1">
            <a:spLocks noGrp="1"/>
          </p:cNvSpPr>
          <p:nvPr>
            <p:ph type="subTitle" idx="5"/>
          </p:nvPr>
        </p:nvSpPr>
        <p:spPr>
          <a:xfrm>
            <a:off x="3440700" y="3694227"/>
            <a:ext cx="22626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8"/>
          <p:cNvSpPr txBox="1">
            <a:spLocks noGrp="1"/>
          </p:cNvSpPr>
          <p:nvPr>
            <p:ph type="subTitle" idx="6"/>
          </p:nvPr>
        </p:nvSpPr>
        <p:spPr>
          <a:xfrm>
            <a:off x="3440700" y="3103975"/>
            <a:ext cx="22626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07" name="Google Shape;207;p28"/>
          <p:cNvSpPr/>
          <p:nvPr/>
        </p:nvSpPr>
        <p:spPr>
          <a:xfrm>
            <a:off x="0" y="4876025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8" name="Google Shape;208;p28"/>
          <p:cNvGrpSpPr/>
          <p:nvPr/>
        </p:nvGrpSpPr>
        <p:grpSpPr>
          <a:xfrm>
            <a:off x="283800" y="-48"/>
            <a:ext cx="8860200" cy="5009873"/>
            <a:chOff x="283800" y="-48"/>
            <a:chExt cx="8860200" cy="5009873"/>
          </a:xfrm>
        </p:grpSpPr>
        <p:cxnSp>
          <p:nvCxnSpPr>
            <p:cNvPr id="209" name="Google Shape;209;p2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28"/>
            <p:cNvCxnSpPr/>
            <p:nvPr/>
          </p:nvCxnSpPr>
          <p:spPr>
            <a:xfrm rot="10800000">
              <a:off x="283800" y="-48"/>
              <a:ext cx="0" cy="2919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6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9"/>
          <p:cNvSpPr txBox="1">
            <a:spLocks noGrp="1"/>
          </p:cNvSpPr>
          <p:nvPr>
            <p:ph type="subTitle" idx="1"/>
          </p:nvPr>
        </p:nvSpPr>
        <p:spPr>
          <a:xfrm>
            <a:off x="1877250" y="1850002"/>
            <a:ext cx="23187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9"/>
          <p:cNvSpPr txBox="1">
            <a:spLocks noGrp="1"/>
          </p:cNvSpPr>
          <p:nvPr>
            <p:ph type="subTitle" idx="2"/>
          </p:nvPr>
        </p:nvSpPr>
        <p:spPr>
          <a:xfrm>
            <a:off x="1877250" y="1375200"/>
            <a:ext cx="23187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subTitle" idx="3"/>
          </p:nvPr>
        </p:nvSpPr>
        <p:spPr>
          <a:xfrm>
            <a:off x="1877250" y="3515601"/>
            <a:ext cx="23187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subTitle" idx="4"/>
          </p:nvPr>
        </p:nvSpPr>
        <p:spPr>
          <a:xfrm>
            <a:off x="1877250" y="3040799"/>
            <a:ext cx="23187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5"/>
          </p:nvPr>
        </p:nvSpPr>
        <p:spPr>
          <a:xfrm>
            <a:off x="6112075" y="1850002"/>
            <a:ext cx="23187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subTitle" idx="6"/>
          </p:nvPr>
        </p:nvSpPr>
        <p:spPr>
          <a:xfrm>
            <a:off x="6112075" y="1375200"/>
            <a:ext cx="23187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subTitle" idx="7"/>
          </p:nvPr>
        </p:nvSpPr>
        <p:spPr>
          <a:xfrm>
            <a:off x="6112075" y="3515601"/>
            <a:ext cx="23187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8"/>
          </p:nvPr>
        </p:nvSpPr>
        <p:spPr>
          <a:xfrm>
            <a:off x="6112075" y="3040799"/>
            <a:ext cx="23187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21" name="Google Shape;221;p29"/>
          <p:cNvSpPr/>
          <p:nvPr/>
        </p:nvSpPr>
        <p:spPr>
          <a:xfrm flipH="1">
            <a:off x="886020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2" name="Google Shape;222;p29"/>
          <p:cNvCxnSpPr/>
          <p:nvPr/>
        </p:nvCxnSpPr>
        <p:spPr>
          <a:xfrm rot="10800000">
            <a:off x="9002100" y="-26"/>
            <a:ext cx="0" cy="3958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6_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0"/>
          <p:cNvSpPr txBox="1">
            <a:spLocks noGrp="1"/>
          </p:cNvSpPr>
          <p:nvPr>
            <p:ph type="subTitle" idx="1"/>
          </p:nvPr>
        </p:nvSpPr>
        <p:spPr>
          <a:xfrm>
            <a:off x="7132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30"/>
          <p:cNvSpPr txBox="1">
            <a:spLocks noGrp="1"/>
          </p:cNvSpPr>
          <p:nvPr>
            <p:ph type="subTitle" idx="2"/>
          </p:nvPr>
        </p:nvSpPr>
        <p:spPr>
          <a:xfrm>
            <a:off x="7132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3"/>
          </p:nvPr>
        </p:nvSpPr>
        <p:spPr>
          <a:xfrm>
            <a:off x="60304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subTitle" idx="4"/>
          </p:nvPr>
        </p:nvSpPr>
        <p:spPr>
          <a:xfrm>
            <a:off x="60304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subTitle" idx="5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subTitle" idx="6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subTitle" idx="7"/>
          </p:nvPr>
        </p:nvSpPr>
        <p:spPr>
          <a:xfrm>
            <a:off x="2042531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30"/>
          <p:cNvSpPr txBox="1">
            <a:spLocks noGrp="1"/>
          </p:cNvSpPr>
          <p:nvPr>
            <p:ph type="subTitle" idx="8"/>
          </p:nvPr>
        </p:nvSpPr>
        <p:spPr>
          <a:xfrm>
            <a:off x="2042531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33" name="Google Shape;233;p30"/>
          <p:cNvSpPr txBox="1">
            <a:spLocks noGrp="1"/>
          </p:cNvSpPr>
          <p:nvPr>
            <p:ph type="subTitle" idx="9"/>
          </p:nvPr>
        </p:nvSpPr>
        <p:spPr>
          <a:xfrm>
            <a:off x="4701169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subTitle" idx="13"/>
          </p:nvPr>
        </p:nvSpPr>
        <p:spPr>
          <a:xfrm>
            <a:off x="4701169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6" name="Google Shape;236;p30"/>
          <p:cNvGrpSpPr/>
          <p:nvPr/>
        </p:nvGrpSpPr>
        <p:grpSpPr>
          <a:xfrm flipH="1"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237" name="Google Shape;237;p30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8" name="Google Shape;238;p30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subTitle" idx="1"/>
          </p:nvPr>
        </p:nvSpPr>
        <p:spPr>
          <a:xfrm>
            <a:off x="713244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subTitle" idx="2"/>
          </p:nvPr>
        </p:nvSpPr>
        <p:spPr>
          <a:xfrm>
            <a:off x="713244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subTitle" idx="3"/>
          </p:nvPr>
        </p:nvSpPr>
        <p:spPr>
          <a:xfrm>
            <a:off x="6030456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subTitle" idx="4"/>
          </p:nvPr>
        </p:nvSpPr>
        <p:spPr>
          <a:xfrm>
            <a:off x="6030456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ubTitle" idx="5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subTitle" idx="6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subTitle" idx="7"/>
          </p:nvPr>
        </p:nvSpPr>
        <p:spPr>
          <a:xfrm>
            <a:off x="713244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subTitle" idx="8"/>
          </p:nvPr>
        </p:nvSpPr>
        <p:spPr>
          <a:xfrm>
            <a:off x="713244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subTitle" idx="9"/>
          </p:nvPr>
        </p:nvSpPr>
        <p:spPr>
          <a:xfrm>
            <a:off x="3371850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subTitle" idx="13"/>
          </p:nvPr>
        </p:nvSpPr>
        <p:spPr>
          <a:xfrm>
            <a:off x="3371850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51" name="Google Shape;251;p31"/>
          <p:cNvSpPr txBox="1">
            <a:spLocks noGrp="1"/>
          </p:cNvSpPr>
          <p:nvPr>
            <p:ph type="subTitle" idx="14"/>
          </p:nvPr>
        </p:nvSpPr>
        <p:spPr>
          <a:xfrm>
            <a:off x="6030456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31"/>
          <p:cNvSpPr txBox="1">
            <a:spLocks noGrp="1"/>
          </p:cNvSpPr>
          <p:nvPr>
            <p:ph type="subTitle" idx="15"/>
          </p:nvPr>
        </p:nvSpPr>
        <p:spPr>
          <a:xfrm>
            <a:off x="6030456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53" name="Google Shape;253;p31"/>
          <p:cNvSpPr/>
          <p:nvPr/>
        </p:nvSpPr>
        <p:spPr>
          <a:xfrm rot="10800000" flipH="1">
            <a:off x="25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4" name="Google Shape;254;p31"/>
          <p:cNvGrpSpPr/>
          <p:nvPr/>
        </p:nvGrpSpPr>
        <p:grpSpPr>
          <a:xfrm rot="10800000" flipH="1">
            <a:off x="141925" y="267450"/>
            <a:ext cx="9001950" cy="4876050"/>
            <a:chOff x="141900" y="-26"/>
            <a:chExt cx="9001950" cy="4876050"/>
          </a:xfrm>
        </p:grpSpPr>
        <p:cxnSp>
          <p:nvCxnSpPr>
            <p:cNvPr id="255" name="Google Shape;255;p31"/>
            <p:cNvCxnSpPr/>
            <p:nvPr/>
          </p:nvCxnSpPr>
          <p:spPr>
            <a:xfrm>
              <a:off x="7907850" y="4876024"/>
              <a:ext cx="123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" name="Google Shape;256;p31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>
            <a:spLocks noGrp="1"/>
          </p:cNvSpPr>
          <p:nvPr>
            <p:ph type="title"/>
          </p:nvPr>
        </p:nvSpPr>
        <p:spPr>
          <a:xfrm>
            <a:off x="2654700" y="530250"/>
            <a:ext cx="38346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59" name="Google Shape;259;p32"/>
          <p:cNvSpPr txBox="1">
            <a:spLocks noGrp="1"/>
          </p:cNvSpPr>
          <p:nvPr>
            <p:ph type="subTitle" idx="1"/>
          </p:nvPr>
        </p:nvSpPr>
        <p:spPr>
          <a:xfrm>
            <a:off x="2654700" y="2342156"/>
            <a:ext cx="3834600" cy="9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550" b="1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9pPr>
          </a:lstStyle>
          <a:p>
            <a:endParaRPr/>
          </a:p>
        </p:txBody>
      </p:sp>
      <p:sp>
        <p:nvSpPr>
          <p:cNvPr id="260" name="Google Shape;260;p32"/>
          <p:cNvSpPr txBox="1">
            <a:spLocks noGrp="1"/>
          </p:cNvSpPr>
          <p:nvPr>
            <p:ph type="subTitle" idx="2"/>
          </p:nvPr>
        </p:nvSpPr>
        <p:spPr>
          <a:xfrm>
            <a:off x="2654700" y="4111851"/>
            <a:ext cx="38346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9pPr>
          </a:lstStyle>
          <a:p>
            <a:endParaRPr/>
          </a:p>
        </p:txBody>
      </p:sp>
      <p:grpSp>
        <p:nvGrpSpPr>
          <p:cNvPr id="261" name="Google Shape;261;p32"/>
          <p:cNvGrpSpPr/>
          <p:nvPr/>
        </p:nvGrpSpPr>
        <p:grpSpPr>
          <a:xfrm>
            <a:off x="713688" y="2579400"/>
            <a:ext cx="8430488" cy="2564100"/>
            <a:chOff x="713688" y="2579400"/>
            <a:chExt cx="8430488" cy="2564100"/>
          </a:xfrm>
        </p:grpSpPr>
        <p:cxnSp>
          <p:nvCxnSpPr>
            <p:cNvPr id="262" name="Google Shape;262;p32"/>
            <p:cNvCxnSpPr/>
            <p:nvPr/>
          </p:nvCxnSpPr>
          <p:spPr>
            <a:xfrm>
              <a:off x="2839075" y="4876025"/>
              <a:ext cx="6305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" name="Google Shape;263;p32"/>
            <p:cNvCxnSpPr/>
            <p:nvPr/>
          </p:nvCxnSpPr>
          <p:spPr>
            <a:xfrm rot="10800000">
              <a:off x="713688" y="2579400"/>
              <a:ext cx="0" cy="2564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4" name="Google Shape;264;p32"/>
          <p:cNvSpPr txBox="1"/>
          <p:nvPr/>
        </p:nvSpPr>
        <p:spPr>
          <a:xfrm>
            <a:off x="2654700" y="3304597"/>
            <a:ext cx="3834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Credits: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and includes icons, infographics &amp; images by </a:t>
            </a:r>
            <a:r>
              <a:rPr lang="en" sz="1200" b="1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3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3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8" name="Google Shape;268;p3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33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2" name="Google Shape;272;p34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273" name="Google Shape;273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4" name="Google Shape;274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>
            <a:spLocks noGrp="1"/>
          </p:cNvSpPr>
          <p:nvPr>
            <p:ph type="ctrTitle"/>
          </p:nvPr>
        </p:nvSpPr>
        <p:spPr>
          <a:xfrm>
            <a:off x="329325" y="952175"/>
            <a:ext cx="7640400" cy="22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Learning to Bid in 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Repeated Auctions with 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Hidden Reserve Prices</a:t>
            </a:r>
            <a:endParaRPr sz="3800"/>
          </a:p>
        </p:txBody>
      </p:sp>
      <p:sp>
        <p:nvSpPr>
          <p:cNvPr id="280" name="Google Shape;280;p35"/>
          <p:cNvSpPr txBox="1">
            <a:spLocks noGrp="1"/>
          </p:cNvSpPr>
          <p:nvPr>
            <p:ph type="subTitle" idx="1"/>
          </p:nvPr>
        </p:nvSpPr>
        <p:spPr>
          <a:xfrm>
            <a:off x="6160900" y="80375"/>
            <a:ext cx="24591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EE4901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281" name="Google Shape;281;p35"/>
          <p:cNvSpPr txBox="1"/>
          <p:nvPr/>
        </p:nvSpPr>
        <p:spPr>
          <a:xfrm>
            <a:off x="744700" y="4635750"/>
            <a:ext cx="29754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chemeClr val="accent2"/>
                </a:solidFill>
                <a:latin typeface="Commissioner"/>
                <a:ea typeface="Commissioner"/>
                <a:cs typeface="Commissioner"/>
                <a:sym typeface="Commissioner"/>
              </a:rPr>
              <a:t>      Shri Prathaa M  -  EE22B144</a:t>
            </a:r>
            <a:endParaRPr sz="1550">
              <a:solidFill>
                <a:schemeClr val="accent2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6"/>
          <p:cNvSpPr/>
          <p:nvPr/>
        </p:nvSpPr>
        <p:spPr>
          <a:xfrm>
            <a:off x="5045480" y="1451000"/>
            <a:ext cx="852900" cy="369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7" name="Google Shape;287;p36"/>
          <p:cNvGrpSpPr/>
          <p:nvPr/>
        </p:nvGrpSpPr>
        <p:grpSpPr>
          <a:xfrm>
            <a:off x="0" y="1451000"/>
            <a:ext cx="4108200" cy="3692400"/>
            <a:chOff x="0" y="1451000"/>
            <a:chExt cx="4108200" cy="3692400"/>
          </a:xfrm>
        </p:grpSpPr>
        <p:sp>
          <p:nvSpPr>
            <p:cNvPr id="288" name="Google Shape;288;p36"/>
            <p:cNvSpPr/>
            <p:nvPr/>
          </p:nvSpPr>
          <p:spPr>
            <a:xfrm>
              <a:off x="1005300" y="1451000"/>
              <a:ext cx="852900" cy="369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9" name="Google Shape;289;p36"/>
            <p:cNvCxnSpPr/>
            <p:nvPr/>
          </p:nvCxnSpPr>
          <p:spPr>
            <a:xfrm>
              <a:off x="0" y="4797575"/>
              <a:ext cx="410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0" name="Google Shape;290;p36"/>
          <p:cNvSpPr txBox="1">
            <a:spLocks noGrp="1"/>
          </p:cNvSpPr>
          <p:nvPr>
            <p:ph type="title"/>
          </p:nvPr>
        </p:nvSpPr>
        <p:spPr>
          <a:xfrm>
            <a:off x="815425" y="43660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Contents of this Presentation</a:t>
            </a:r>
            <a:endParaRPr sz="3100">
              <a:solidFill>
                <a:schemeClr val="accent2"/>
              </a:solidFill>
            </a:endParaRPr>
          </a:p>
        </p:txBody>
      </p:sp>
      <p:sp>
        <p:nvSpPr>
          <p:cNvPr id="291" name="Google Shape;291;p36"/>
          <p:cNvSpPr txBox="1">
            <a:spLocks noGrp="1"/>
          </p:cNvSpPr>
          <p:nvPr>
            <p:ph type="subTitle" idx="2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92" name="Google Shape;292;p36"/>
          <p:cNvSpPr txBox="1">
            <a:spLocks noGrp="1"/>
          </p:cNvSpPr>
          <p:nvPr>
            <p:ph type="title" idx="3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93" name="Google Shape;293;p36"/>
          <p:cNvSpPr txBox="1">
            <a:spLocks noGrp="1"/>
          </p:cNvSpPr>
          <p:nvPr>
            <p:ph type="subTitle" idx="5"/>
          </p:nvPr>
        </p:nvSpPr>
        <p:spPr>
          <a:xfrm>
            <a:off x="1936100" y="3449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Fixed Hidden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Reserve Price</a:t>
            </a:r>
            <a:endParaRPr/>
          </a:p>
        </p:txBody>
      </p:sp>
      <p:sp>
        <p:nvSpPr>
          <p:cNvPr id="294" name="Google Shape;294;p36"/>
          <p:cNvSpPr txBox="1">
            <a:spLocks noGrp="1"/>
          </p:cNvSpPr>
          <p:nvPr>
            <p:ph type="title" idx="6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95" name="Google Shape;295;p36"/>
          <p:cNvSpPr txBox="1">
            <a:spLocks noGrp="1"/>
          </p:cNvSpPr>
          <p:nvPr>
            <p:ph type="subTitle" idx="8"/>
          </p:nvPr>
        </p:nvSpPr>
        <p:spPr>
          <a:xfrm>
            <a:off x="5921652" y="1501450"/>
            <a:ext cx="32346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Learning in Auctions</a:t>
            </a:r>
            <a:endParaRPr/>
          </a:p>
        </p:txBody>
      </p:sp>
      <p:sp>
        <p:nvSpPr>
          <p:cNvPr id="296" name="Google Shape;296;p36"/>
          <p:cNvSpPr txBox="1">
            <a:spLocks noGrp="1"/>
          </p:cNvSpPr>
          <p:nvPr>
            <p:ph type="title" idx="9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97" name="Google Shape;297;p36"/>
          <p:cNvSpPr txBox="1">
            <a:spLocks noGrp="1"/>
          </p:cNvSpPr>
          <p:nvPr>
            <p:ph type="subTitle" idx="14"/>
          </p:nvPr>
        </p:nvSpPr>
        <p:spPr>
          <a:xfrm>
            <a:off x="5969575" y="3529500"/>
            <a:ext cx="28776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Reserve Price drawn from Distribution</a:t>
            </a:r>
            <a:endParaRPr/>
          </a:p>
        </p:txBody>
      </p:sp>
      <p:sp>
        <p:nvSpPr>
          <p:cNvPr id="298" name="Google Shape;298;p36"/>
          <p:cNvSpPr txBox="1">
            <a:spLocks noGrp="1"/>
          </p:cNvSpPr>
          <p:nvPr>
            <p:ph type="title" idx="15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37"/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04" name="Google Shape;304;p37"/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5" name="Google Shape;305;p37"/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6" name="Google Shape;306;p37"/>
          <p:cNvSpPr txBox="1">
            <a:spLocks noGrp="1"/>
          </p:cNvSpPr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07" name="Google Shape;307;p37"/>
          <p:cNvSpPr txBox="1">
            <a:spLocks noGrp="1"/>
          </p:cNvSpPr>
          <p:nvPr>
            <p:ph type="title" idx="2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08" name="Google Shape;308;p37"/>
          <p:cNvSpPr txBox="1">
            <a:spLocks noGrp="1"/>
          </p:cNvSpPr>
          <p:nvPr>
            <p:ph type="subTitle" idx="1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Setup of First and Second Price Auction with Single Bidder and Single Seller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8"/>
          <p:cNvSpPr txBox="1">
            <a:spLocks noGrp="1"/>
          </p:cNvSpPr>
          <p:nvPr>
            <p:ph type="title"/>
          </p:nvPr>
        </p:nvSpPr>
        <p:spPr>
          <a:xfrm>
            <a:off x="3925800" y="-732264"/>
            <a:ext cx="52182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First Price Auction</a:t>
            </a:r>
            <a:endParaRPr sz="2400"/>
          </a:p>
        </p:txBody>
      </p:sp>
      <p:sp>
        <p:nvSpPr>
          <p:cNvPr id="314" name="Google Shape;314;p38"/>
          <p:cNvSpPr txBox="1">
            <a:spLocks noGrp="1"/>
          </p:cNvSpPr>
          <p:nvPr>
            <p:ph type="subTitle" idx="1"/>
          </p:nvPr>
        </p:nvSpPr>
        <p:spPr>
          <a:xfrm>
            <a:off x="1463550" y="1556250"/>
            <a:ext cx="6990000" cy="20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Online Sellers often use </a:t>
            </a:r>
            <a:r>
              <a:rPr lang="en" sz="1600" b="1"/>
              <a:t>hidden reserve prices</a:t>
            </a:r>
            <a:endParaRPr sz="1600"/>
          </a:p>
          <a:p>
            <a:pPr marL="457200" lvl="0" indent="-330200" algn="l" rtl="0">
              <a:spcBef>
                <a:spcPts val="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Buyer cannot observe reserves → must learn to bid optimally</a:t>
            </a:r>
            <a:endParaRPr sz="1600"/>
          </a:p>
          <a:p>
            <a:pPr marL="457200" lvl="0" indent="-330200" algn="l" rtl="0">
              <a:spcBef>
                <a:spcPts val="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Incorrect bidding </a:t>
            </a:r>
            <a:endParaRPr sz="1600"/>
          </a:p>
          <a:p>
            <a:pPr marL="914400" lvl="0" indent="-330200" algn="l" rtl="0">
              <a:spcBef>
                <a:spcPts val="20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Overbidding     →  overspending</a:t>
            </a:r>
            <a:endParaRPr sz="1600"/>
          </a:p>
          <a:p>
            <a:pPr marL="914400" lvl="0" indent="-330200" algn="l" rtl="0">
              <a:spcBef>
                <a:spcPts val="20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Underbidding  →  lost opportunities</a:t>
            </a:r>
            <a:endParaRPr sz="1600"/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600" b="1"/>
              <a:t>Objective</a:t>
            </a:r>
            <a:r>
              <a:rPr lang="en" sz="1600"/>
              <a:t>: Minimize regret over entire time horizon</a:t>
            </a:r>
            <a:endParaRPr sz="1600"/>
          </a:p>
          <a:p>
            <a:pPr marL="0" lvl="0" indent="0" algn="ctr" rtl="0">
              <a:spcBef>
                <a:spcPts val="20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15" name="Google Shape;315;p38"/>
          <p:cNvSpPr txBox="1"/>
          <p:nvPr/>
        </p:nvSpPr>
        <p:spPr>
          <a:xfrm>
            <a:off x="7924500" y="2190450"/>
            <a:ext cx="2535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 txBox="1">
            <a:spLocks noGrp="1"/>
          </p:cNvSpPr>
          <p:nvPr>
            <p:ph type="title"/>
          </p:nvPr>
        </p:nvSpPr>
        <p:spPr>
          <a:xfrm>
            <a:off x="4302950" y="-762389"/>
            <a:ext cx="52182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Second Price Auction</a:t>
            </a:r>
            <a:endParaRPr sz="2400"/>
          </a:p>
        </p:txBody>
      </p:sp>
      <p:sp>
        <p:nvSpPr>
          <p:cNvPr id="321" name="Google Shape;321;p39"/>
          <p:cNvSpPr txBox="1"/>
          <p:nvPr/>
        </p:nvSpPr>
        <p:spPr>
          <a:xfrm>
            <a:off x="1133150" y="1288050"/>
            <a:ext cx="7563600" cy="25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Commissioner"/>
              <a:buChar char="●"/>
            </a:pPr>
            <a:r>
              <a:rPr lang="en" sz="1600">
                <a:latin typeface="Commissioner"/>
                <a:ea typeface="Commissioner"/>
                <a:cs typeface="Commissioner"/>
                <a:sym typeface="Commissioner"/>
              </a:rPr>
              <a:t>Seller has a Hidden Reserve Price </a:t>
            </a:r>
            <a:endParaRPr sz="1600">
              <a:latin typeface="Commissioner"/>
              <a:ea typeface="Commissioner"/>
              <a:cs typeface="Commissioner"/>
              <a:sym typeface="Commissioner"/>
            </a:endParaRPr>
          </a:p>
          <a:p>
            <a:pPr marL="914400" lvl="0" indent="-3302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Commissioner"/>
              <a:buChar char="-"/>
            </a:pPr>
            <a:r>
              <a:rPr lang="en" sz="1600">
                <a:latin typeface="Commissioner"/>
                <a:ea typeface="Commissioner"/>
                <a:cs typeface="Commissioner"/>
                <a:sym typeface="Commissioner"/>
              </a:rPr>
              <a:t> Fixed - bidding once above reserve price reveals it</a:t>
            </a:r>
            <a:endParaRPr sz="1600">
              <a:latin typeface="Commissioner"/>
              <a:ea typeface="Commissioner"/>
              <a:cs typeface="Commissioner"/>
              <a:sym typeface="Commissioner"/>
            </a:endParaRPr>
          </a:p>
          <a:p>
            <a:pPr marL="914400" lvl="0" indent="-3302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Commissioner"/>
              <a:buChar char="-"/>
            </a:pPr>
            <a:r>
              <a:rPr lang="en" sz="1600">
                <a:latin typeface="Commissioner"/>
                <a:ea typeface="Commissioner"/>
                <a:cs typeface="Commissioner"/>
                <a:sym typeface="Commissioner"/>
              </a:rPr>
              <a:t> Stochastic - each winning bid reveals the current reserve price drawn from unknown distribution, F</a:t>
            </a:r>
            <a:endParaRPr sz="1600"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Commissioner"/>
              <a:buChar char="●"/>
            </a:pPr>
            <a:r>
              <a:rPr lang="en" sz="1600">
                <a:latin typeface="Commissioner"/>
                <a:ea typeface="Commissioner"/>
                <a:cs typeface="Commissioner"/>
                <a:sym typeface="Commissioner"/>
              </a:rPr>
              <a:t>Bid should be below Valuation (v) to get non-negative utility</a:t>
            </a:r>
            <a:endParaRPr sz="1600"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Commissioner"/>
              <a:buChar char="●"/>
            </a:pPr>
            <a:r>
              <a:rPr lang="en" sz="1600">
                <a:latin typeface="Commissioner"/>
                <a:ea typeface="Commissioner"/>
                <a:cs typeface="Commissioner"/>
                <a:sym typeface="Commissioner"/>
              </a:rPr>
              <a:t>Bid shouldn’t go below Reserve price (hidden) to get positive utility</a:t>
            </a:r>
            <a:endParaRPr sz="1600"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Commissioner"/>
              <a:buChar char="●"/>
            </a:pPr>
            <a:r>
              <a:rPr lang="en" sz="1600" b="1">
                <a:latin typeface="Commissioner"/>
                <a:ea typeface="Commissioner"/>
                <a:cs typeface="Commissioner"/>
                <a:sym typeface="Commissioner"/>
              </a:rPr>
              <a:t>Assumption</a:t>
            </a:r>
            <a:r>
              <a:rPr lang="en" sz="1600">
                <a:latin typeface="Commissioner"/>
                <a:ea typeface="Commissioner"/>
                <a:cs typeface="Commissioner"/>
                <a:sym typeface="Commissioner"/>
              </a:rPr>
              <a:t>: Buyer doesn’t want to reveal his valuation</a:t>
            </a:r>
            <a:endParaRPr sz="1600"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SzPts val="1600"/>
              <a:buChar char="●"/>
            </a:pPr>
            <a:r>
              <a:rPr lang="en" sz="1600" b="1">
                <a:latin typeface="Commissioner"/>
                <a:ea typeface="Commissioner"/>
                <a:cs typeface="Commissioner"/>
                <a:sym typeface="Commissioner"/>
              </a:rPr>
              <a:t>Objective</a:t>
            </a:r>
            <a:r>
              <a:rPr lang="en" sz="1600">
                <a:latin typeface="Commissioner"/>
                <a:ea typeface="Commissioner"/>
                <a:cs typeface="Commissioner"/>
                <a:sym typeface="Commissioner"/>
              </a:rPr>
              <a:t>: Learn Empirical Distribution Function and use it to bid optimally </a:t>
            </a:r>
            <a:endParaRPr sz="1600"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0"/>
          <p:cNvSpPr txBox="1">
            <a:spLocks noGrp="1"/>
          </p:cNvSpPr>
          <p:nvPr>
            <p:ph type="title"/>
          </p:nvPr>
        </p:nvSpPr>
        <p:spPr>
          <a:xfrm>
            <a:off x="5391900" y="-770414"/>
            <a:ext cx="52182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Setup</a:t>
            </a:r>
            <a:endParaRPr sz="2400"/>
          </a:p>
        </p:txBody>
      </p:sp>
      <p:sp>
        <p:nvSpPr>
          <p:cNvPr id="327" name="Google Shape;327;p40"/>
          <p:cNvSpPr txBox="1"/>
          <p:nvPr/>
        </p:nvSpPr>
        <p:spPr>
          <a:xfrm>
            <a:off x="1943850" y="811825"/>
            <a:ext cx="61086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Single Buyer Fixed Hidden Reserve Price FPA</a:t>
            </a:r>
            <a:endParaRPr sz="1800" b="1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28" name="Google Shape;328;p40"/>
          <p:cNvSpPr/>
          <p:nvPr/>
        </p:nvSpPr>
        <p:spPr>
          <a:xfrm>
            <a:off x="1352450" y="1969375"/>
            <a:ext cx="3407400" cy="21795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29" name="Google Shape;329;p40"/>
          <p:cNvSpPr/>
          <p:nvPr/>
        </p:nvSpPr>
        <p:spPr>
          <a:xfrm>
            <a:off x="5391900" y="1977675"/>
            <a:ext cx="3512100" cy="21795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mmissioner"/>
              <a:ea typeface="Commissioner"/>
              <a:cs typeface="Commissioner"/>
              <a:sym typeface="Commissioner"/>
            </a:endParaRPr>
          </a:p>
        </p:txBody>
      </p:sp>
      <p:cxnSp>
        <p:nvCxnSpPr>
          <p:cNvPr id="330" name="Google Shape;330;p40"/>
          <p:cNvCxnSpPr>
            <a:stCxn id="327" idx="2"/>
            <a:endCxn id="328" idx="0"/>
          </p:cNvCxnSpPr>
          <p:nvPr/>
        </p:nvCxnSpPr>
        <p:spPr>
          <a:xfrm flipH="1">
            <a:off x="3056250" y="1209625"/>
            <a:ext cx="1941900" cy="759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1" name="Google Shape;331;p40"/>
          <p:cNvCxnSpPr>
            <a:stCxn id="327" idx="2"/>
            <a:endCxn id="329" idx="0"/>
          </p:cNvCxnSpPr>
          <p:nvPr/>
        </p:nvCxnSpPr>
        <p:spPr>
          <a:xfrm>
            <a:off x="4998150" y="1209625"/>
            <a:ext cx="2149800" cy="76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2" name="Google Shape;332;p40"/>
          <p:cNvSpPr txBox="1"/>
          <p:nvPr/>
        </p:nvSpPr>
        <p:spPr>
          <a:xfrm>
            <a:off x="2295850" y="2136125"/>
            <a:ext cx="16239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Truthful Seller</a:t>
            </a:r>
            <a:endParaRPr b="1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33" name="Google Shape;333;p40"/>
          <p:cNvSpPr txBox="1"/>
          <p:nvPr/>
        </p:nvSpPr>
        <p:spPr>
          <a:xfrm>
            <a:off x="6564900" y="2111700"/>
            <a:ext cx="16239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Strategic Seller</a:t>
            </a:r>
            <a:endParaRPr b="1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34" name="Google Shape;334;p40"/>
          <p:cNvSpPr txBox="1"/>
          <p:nvPr/>
        </p:nvSpPr>
        <p:spPr>
          <a:xfrm>
            <a:off x="1204400" y="2636475"/>
            <a:ext cx="33396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Commissioner"/>
              <a:buChar char="●"/>
            </a:pPr>
            <a:r>
              <a:rPr lang="en" sz="1300">
                <a:latin typeface="Commissioner"/>
                <a:ea typeface="Commissioner"/>
                <a:cs typeface="Commissioner"/>
                <a:sym typeface="Commissioner"/>
              </a:rPr>
              <a:t>Fixes the true Reserve Price (p) before auction</a:t>
            </a:r>
            <a:br>
              <a:rPr lang="en" sz="1300">
                <a:latin typeface="Commissioner"/>
                <a:ea typeface="Commissioner"/>
                <a:cs typeface="Commissioner"/>
                <a:sym typeface="Commissioner"/>
              </a:rPr>
            </a:br>
            <a:endParaRPr sz="1300"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Commissioner"/>
              <a:buChar char="●"/>
            </a:pPr>
            <a:r>
              <a:rPr lang="en" sz="1300">
                <a:latin typeface="Commissioner"/>
                <a:ea typeface="Commissioner"/>
                <a:cs typeface="Commissioner"/>
                <a:sym typeface="Commissioner"/>
              </a:rPr>
              <a:t>Buyer wins if he bids above p and pays his  bid amount</a:t>
            </a:r>
            <a:endParaRPr sz="1300"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5246625" y="2525975"/>
            <a:ext cx="3600600" cy="15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Commissioner"/>
              <a:buChar char="●"/>
            </a:pPr>
            <a:r>
              <a:rPr lang="en" sz="1300">
                <a:latin typeface="Commissioner"/>
                <a:ea typeface="Commissioner"/>
                <a:cs typeface="Commissioner"/>
                <a:sym typeface="Commissioner"/>
              </a:rPr>
              <a:t>Seller strategically chooses to increase reserve price from original value</a:t>
            </a:r>
            <a:br>
              <a:rPr lang="en" sz="1300">
                <a:latin typeface="Commissioner"/>
                <a:ea typeface="Commissioner"/>
                <a:cs typeface="Commissioner"/>
                <a:sym typeface="Commissioner"/>
              </a:rPr>
            </a:br>
            <a:endParaRPr sz="1300"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Commissioner"/>
              <a:buChar char="●"/>
            </a:pPr>
            <a:r>
              <a:rPr lang="en" sz="1300">
                <a:latin typeface="Commissioner"/>
                <a:ea typeface="Commissioner"/>
                <a:cs typeface="Commissioner"/>
                <a:sym typeface="Commissioner"/>
              </a:rPr>
              <a:t>Seller could be assumed adversarial</a:t>
            </a:r>
            <a:endParaRPr sz="1300"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mmissioner"/>
                <a:ea typeface="Commissioner"/>
                <a:cs typeface="Commissioner"/>
                <a:sym typeface="Commissioner"/>
              </a:rPr>
              <a:t>(He knows the algorithm the buyer would use to bid and optimise his reserve price)</a:t>
            </a:r>
            <a:endParaRPr sz="1300"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"/>
          <p:cNvSpPr txBox="1">
            <a:spLocks noGrp="1"/>
          </p:cNvSpPr>
          <p:nvPr>
            <p:ph type="title"/>
          </p:nvPr>
        </p:nvSpPr>
        <p:spPr>
          <a:xfrm>
            <a:off x="5391900" y="-770414"/>
            <a:ext cx="52182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Setup</a:t>
            </a:r>
            <a:endParaRPr sz="2400"/>
          </a:p>
        </p:txBody>
      </p:sp>
      <p:sp>
        <p:nvSpPr>
          <p:cNvPr id="341" name="Google Shape;341;p41"/>
          <p:cNvSpPr txBox="1"/>
          <p:nvPr/>
        </p:nvSpPr>
        <p:spPr>
          <a:xfrm>
            <a:off x="2991875" y="811825"/>
            <a:ext cx="37821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Stochastic Reserve Price Auction</a:t>
            </a:r>
            <a:endParaRPr sz="1800" b="1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42" name="Google Shape;342;p41"/>
          <p:cNvSpPr/>
          <p:nvPr/>
        </p:nvSpPr>
        <p:spPr>
          <a:xfrm>
            <a:off x="1352450" y="1969375"/>
            <a:ext cx="2874300" cy="21795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43" name="Google Shape;343;p41"/>
          <p:cNvSpPr/>
          <p:nvPr/>
        </p:nvSpPr>
        <p:spPr>
          <a:xfrm>
            <a:off x="5690250" y="1977675"/>
            <a:ext cx="2874300" cy="21795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mmissioner"/>
              <a:ea typeface="Commissioner"/>
              <a:cs typeface="Commissioner"/>
              <a:sym typeface="Commissioner"/>
            </a:endParaRPr>
          </a:p>
        </p:txBody>
      </p:sp>
      <p:cxnSp>
        <p:nvCxnSpPr>
          <p:cNvPr id="344" name="Google Shape;344;p41"/>
          <p:cNvCxnSpPr>
            <a:stCxn id="341" idx="2"/>
            <a:endCxn id="342" idx="0"/>
          </p:cNvCxnSpPr>
          <p:nvPr/>
        </p:nvCxnSpPr>
        <p:spPr>
          <a:xfrm flipH="1">
            <a:off x="2789525" y="1209625"/>
            <a:ext cx="2093400" cy="759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5" name="Google Shape;345;p41"/>
          <p:cNvCxnSpPr>
            <a:stCxn id="341" idx="2"/>
            <a:endCxn id="343" idx="0"/>
          </p:cNvCxnSpPr>
          <p:nvPr/>
        </p:nvCxnSpPr>
        <p:spPr>
          <a:xfrm>
            <a:off x="4882925" y="1209625"/>
            <a:ext cx="2244600" cy="76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6" name="Google Shape;346;p41"/>
          <p:cNvSpPr txBox="1"/>
          <p:nvPr/>
        </p:nvSpPr>
        <p:spPr>
          <a:xfrm>
            <a:off x="2571700" y="2123050"/>
            <a:ext cx="5643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SPA</a:t>
            </a:r>
            <a:endParaRPr b="1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47" name="Google Shape;347;p41"/>
          <p:cNvSpPr txBox="1"/>
          <p:nvPr/>
        </p:nvSpPr>
        <p:spPr>
          <a:xfrm>
            <a:off x="6858700" y="2183025"/>
            <a:ext cx="6954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FPA</a:t>
            </a:r>
            <a:endParaRPr b="1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48" name="Google Shape;348;p41"/>
          <p:cNvSpPr txBox="1"/>
          <p:nvPr/>
        </p:nvSpPr>
        <p:spPr>
          <a:xfrm>
            <a:off x="1644650" y="2621175"/>
            <a:ext cx="22899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mmissioner"/>
                <a:ea typeface="Commissioner"/>
                <a:cs typeface="Commissioner"/>
                <a:sym typeface="Commissioner"/>
              </a:rPr>
              <a:t>Every winning round reveals the underlying reserve price that can be used to build the empirical distribution of reserve price</a:t>
            </a:r>
            <a:endParaRPr sz="1600"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49" name="Google Shape;349;p41"/>
          <p:cNvSpPr txBox="1"/>
          <p:nvPr/>
        </p:nvSpPr>
        <p:spPr>
          <a:xfrm>
            <a:off x="5936700" y="2805825"/>
            <a:ext cx="2343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mmissioner"/>
                <a:ea typeface="Commissioner"/>
                <a:cs typeface="Commissioner"/>
                <a:sym typeface="Commissioner"/>
              </a:rPr>
              <a:t>The winning bids can be used to build the empirical distribution of winning bids</a:t>
            </a:r>
            <a:endParaRPr sz="1300"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42"/>
          <p:cNvGrpSpPr/>
          <p:nvPr/>
        </p:nvGrpSpPr>
        <p:grpSpPr>
          <a:xfrm>
            <a:off x="6670200" y="0"/>
            <a:ext cx="2473800" cy="4131000"/>
            <a:chOff x="6670200" y="0"/>
            <a:chExt cx="2473800" cy="4131000"/>
          </a:xfrm>
        </p:grpSpPr>
        <p:sp>
          <p:nvSpPr>
            <p:cNvPr id="355" name="Google Shape;355;p42"/>
            <p:cNvSpPr/>
            <p:nvPr/>
          </p:nvSpPr>
          <p:spPr>
            <a:xfrm flipH="1">
              <a:off x="667020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56" name="Google Shape;356;p42"/>
            <p:cNvCxnSpPr/>
            <p:nvPr/>
          </p:nvCxnSpPr>
          <p:spPr>
            <a:xfrm rot="10800000">
              <a:off x="84327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7" name="Google Shape;357;p42"/>
          <p:cNvSpPr txBox="1">
            <a:spLocks noGrp="1"/>
          </p:cNvSpPr>
          <p:nvPr>
            <p:ph type="title"/>
          </p:nvPr>
        </p:nvSpPr>
        <p:spPr>
          <a:xfrm flipH="1">
            <a:off x="2052825" y="2036300"/>
            <a:ext cx="55791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Learning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Auctions</a:t>
            </a:r>
            <a:endParaRPr/>
          </a:p>
        </p:txBody>
      </p:sp>
      <p:sp>
        <p:nvSpPr>
          <p:cNvPr id="358" name="Google Shape;358;p42"/>
          <p:cNvSpPr txBox="1">
            <a:spLocks noGrp="1"/>
          </p:cNvSpPr>
          <p:nvPr>
            <p:ph type="title" idx="2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3"/>
          <p:cNvSpPr txBox="1">
            <a:spLocks noGrp="1"/>
          </p:cNvSpPr>
          <p:nvPr>
            <p:ph type="title"/>
          </p:nvPr>
        </p:nvSpPr>
        <p:spPr>
          <a:xfrm>
            <a:off x="4967525" y="-778439"/>
            <a:ext cx="52182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Multi-armed bandits</a:t>
            </a:r>
            <a:endParaRPr sz="2400"/>
          </a:p>
        </p:txBody>
      </p:sp>
      <p:sp>
        <p:nvSpPr>
          <p:cNvPr id="364" name="Google Shape;364;p43"/>
          <p:cNvSpPr txBox="1"/>
          <p:nvPr/>
        </p:nvSpPr>
        <p:spPr>
          <a:xfrm>
            <a:off x="1135375" y="686250"/>
            <a:ext cx="4739400" cy="37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Commissioner"/>
              <a:buChar char="●"/>
            </a:pPr>
            <a:r>
              <a:rPr lang="en" sz="1500" b="1">
                <a:latin typeface="Commissioner"/>
                <a:ea typeface="Commissioner"/>
                <a:cs typeface="Commissioner"/>
                <a:sym typeface="Commissioner"/>
              </a:rPr>
              <a:t>Stochastic bandits</a:t>
            </a:r>
            <a:endParaRPr sz="1500" b="1"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Commissioner"/>
                <a:ea typeface="Commissioner"/>
                <a:cs typeface="Commissioner"/>
                <a:sym typeface="Commissioner"/>
              </a:rPr>
              <a:t>Regret Upper bound</a:t>
            </a:r>
            <a:endParaRPr sz="1500"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Commissioner"/>
                <a:ea typeface="Commissioner"/>
                <a:cs typeface="Commissioner"/>
                <a:sym typeface="Commissioner"/>
              </a:rPr>
              <a:t>Lower bound </a:t>
            </a:r>
            <a:endParaRPr sz="1500"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 b="1">
                <a:latin typeface="Commissioner"/>
                <a:ea typeface="Commissioner"/>
                <a:cs typeface="Commissioner"/>
                <a:sym typeface="Commissioner"/>
              </a:rPr>
              <a:t>Distribution-independent (Stochastic)</a:t>
            </a:r>
            <a:endParaRPr sz="1500" b="1"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Commissioner"/>
                <a:ea typeface="Commissioner"/>
                <a:cs typeface="Commissioner"/>
                <a:sym typeface="Commissioner"/>
              </a:rPr>
              <a:t>Upper bound </a:t>
            </a:r>
            <a:endParaRPr sz="1500"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Commissioner"/>
                <a:ea typeface="Commissioner"/>
                <a:cs typeface="Commissioner"/>
                <a:sym typeface="Commissioner"/>
              </a:rPr>
              <a:t>Lower bound </a:t>
            </a:r>
            <a:endParaRPr sz="1500"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 b="1">
                <a:latin typeface="Commissioner"/>
                <a:ea typeface="Commissioner"/>
                <a:cs typeface="Commissioner"/>
                <a:sym typeface="Commissioner"/>
              </a:rPr>
              <a:t>Adversarial bandits</a:t>
            </a:r>
            <a:endParaRPr sz="1500" b="1"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Commissioner"/>
                <a:ea typeface="Commissioner"/>
                <a:cs typeface="Commissioner"/>
                <a:sym typeface="Commissioner"/>
              </a:rPr>
              <a:t> Upper bound </a:t>
            </a:r>
            <a:endParaRPr sz="1500"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latin typeface="Commissioner"/>
                <a:ea typeface="Commissioner"/>
                <a:cs typeface="Commissioner"/>
                <a:sym typeface="Commissioner"/>
              </a:rPr>
              <a:t>Lower bound </a:t>
            </a:r>
            <a:endParaRPr sz="1500">
              <a:latin typeface="Commissioner"/>
              <a:ea typeface="Commissioner"/>
              <a:cs typeface="Commissioner"/>
              <a:sym typeface="Commissioner"/>
            </a:endParaRPr>
          </a:p>
        </p:txBody>
      </p:sp>
      <p:pic>
        <p:nvPicPr>
          <p:cNvPr id="365" name="Google Shape;36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3050" y="1126325"/>
            <a:ext cx="1134300" cy="3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6313" y="1427111"/>
            <a:ext cx="160972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3050" y="2405326"/>
            <a:ext cx="1470455" cy="3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25850" y="2822425"/>
            <a:ext cx="1047850" cy="3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3050" y="3590200"/>
            <a:ext cx="1470450" cy="251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30625" y="3985125"/>
            <a:ext cx="946557" cy="3007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3"/>
          <p:cNvSpPr txBox="1">
            <a:spLocks noGrp="1"/>
          </p:cNvSpPr>
          <p:nvPr>
            <p:ph type="subTitle" idx="1"/>
          </p:nvPr>
        </p:nvSpPr>
        <p:spPr>
          <a:xfrm>
            <a:off x="819775" y="4424175"/>
            <a:ext cx="82773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/>
              <a:t>Bandit learning involves selecting one of M actions and observing only the chosen reward.</a:t>
            </a:r>
            <a:endParaRPr sz="145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/>
              <a:t> Let p</a:t>
            </a:r>
            <a:r>
              <a:rPr lang="en" sz="1450" baseline="-25000"/>
              <a:t>j</a:t>
            </a:r>
            <a:r>
              <a:rPr lang="en" sz="1450"/>
              <a:t> be the mean reward of arm j and p</a:t>
            </a:r>
            <a:r>
              <a:rPr lang="en" sz="1450" baseline="30000"/>
              <a:t>*</a:t>
            </a:r>
            <a:r>
              <a:rPr lang="en" sz="1450"/>
              <a:t> = max</a:t>
            </a:r>
            <a:r>
              <a:rPr lang="en" sz="1450" baseline="-25000"/>
              <a:t>j</a:t>
            </a:r>
            <a:r>
              <a:rPr lang="en" sz="1450"/>
              <a:t> p</a:t>
            </a:r>
            <a:r>
              <a:rPr lang="en" sz="1450" baseline="-25000"/>
              <a:t>j</a:t>
            </a:r>
            <a:r>
              <a:rPr lang="en" sz="1450"/>
              <a:t> .</a:t>
            </a:r>
            <a:endParaRPr sz="145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4"/>
          <p:cNvSpPr txBox="1">
            <a:spLocks noGrp="1"/>
          </p:cNvSpPr>
          <p:nvPr>
            <p:ph type="title"/>
          </p:nvPr>
        </p:nvSpPr>
        <p:spPr>
          <a:xfrm>
            <a:off x="4158800" y="-762414"/>
            <a:ext cx="52182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Online Repeated Auctions</a:t>
            </a:r>
            <a:endParaRPr sz="2400"/>
          </a:p>
        </p:txBody>
      </p:sp>
      <p:sp>
        <p:nvSpPr>
          <p:cNvPr id="377" name="Google Shape;377;p44"/>
          <p:cNvSpPr txBox="1"/>
          <p:nvPr/>
        </p:nvSpPr>
        <p:spPr>
          <a:xfrm>
            <a:off x="1030925" y="1336500"/>
            <a:ext cx="7662600" cy="25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missioner"/>
              <a:buChar char="●"/>
            </a:pPr>
            <a:r>
              <a:rPr lang="en" sz="16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Online advertising relies on repeated first-price (FPA) and second-price (SPA) auctions.</a:t>
            </a:r>
            <a:endParaRPr sz="16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missioner"/>
              <a:buChar char="●"/>
            </a:pPr>
            <a:r>
              <a:rPr lang="en" sz="16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Buyers shade bids in FPA, while truthful bidding is optimal in SPA.</a:t>
            </a:r>
            <a:endParaRPr sz="16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missioner"/>
              <a:buChar char="●"/>
            </a:pPr>
            <a:r>
              <a:rPr lang="en" sz="16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Real ad markets show complex bidder behavior due to budgets and strategic (myopic or non-myopic) bidding.</a:t>
            </a:r>
            <a:endParaRPr sz="16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600"/>
              <a:buFont typeface="Commissioner"/>
              <a:buChar char="●"/>
            </a:pPr>
            <a:r>
              <a:rPr lang="en" sz="16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Myerson–Satterthwaite bilateral trade model: sellers post above their valuation; buyers bid below their valuation.</a:t>
            </a:r>
            <a:endParaRPr sz="16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5"/>
          <p:cNvSpPr txBox="1">
            <a:spLocks noGrp="1"/>
          </p:cNvSpPr>
          <p:nvPr>
            <p:ph type="title"/>
          </p:nvPr>
        </p:nvSpPr>
        <p:spPr>
          <a:xfrm>
            <a:off x="4282500" y="-694014"/>
            <a:ext cx="52182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 Online Learning in Auctions</a:t>
            </a:r>
            <a:endParaRPr sz="2400"/>
          </a:p>
        </p:txBody>
      </p:sp>
      <p:sp>
        <p:nvSpPr>
          <p:cNvPr id="383" name="Google Shape;383;p45"/>
          <p:cNvSpPr txBox="1"/>
          <p:nvPr/>
        </p:nvSpPr>
        <p:spPr>
          <a:xfrm>
            <a:off x="976850" y="864750"/>
            <a:ext cx="7858800" cy="3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75" rIns="91425" bIns="3657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missioner"/>
              <a:buChar char="●"/>
            </a:pPr>
            <a:r>
              <a:rPr lang="en" sz="16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 Prior work mostly targets seller-side learning: </a:t>
            </a:r>
            <a:endParaRPr sz="1600" dirty="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 Posted-price auctions, dynamic pricing, and discounted valuation models.</a:t>
            </a:r>
            <a:endParaRPr sz="1600" dirty="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missioner"/>
              <a:buChar char="●"/>
            </a:pPr>
            <a:r>
              <a:rPr lang="en" sz="16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Known regret rates for sellers : 	       for truthful buyers</a:t>
            </a:r>
            <a:endParaRPr sz="1600" dirty="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2743200" lvl="0" indent="4572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    	        for strategic buyers.</a:t>
            </a:r>
            <a:endParaRPr sz="1600" dirty="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missioner"/>
              <a:buChar char="●"/>
            </a:pPr>
            <a:r>
              <a:rPr lang="en" sz="16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Buyer-side learning is less studied, especially with hidden reserve prices.</a:t>
            </a:r>
            <a:endParaRPr sz="1600" dirty="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600"/>
              <a:buFont typeface="Commissioner"/>
              <a:buChar char="●"/>
            </a:pPr>
            <a:r>
              <a:rPr lang="en" sz="16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Feedback is heavily censored in FPA, resembling binary bandit feedback.</a:t>
            </a:r>
            <a:endParaRPr sz="1900" dirty="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pic>
        <p:nvPicPr>
          <p:cNvPr id="384" name="Google Shape;38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2500" y="2558774"/>
            <a:ext cx="677625" cy="23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7940" y="2897701"/>
            <a:ext cx="798948" cy="23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46"/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91" name="Google Shape;391;p46"/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2" name="Google Shape;392;p46"/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93" name="Google Shape;393;p46"/>
          <p:cNvSpPr txBox="1">
            <a:spLocks noGrp="1"/>
          </p:cNvSpPr>
          <p:nvPr>
            <p:ph type="title"/>
          </p:nvPr>
        </p:nvSpPr>
        <p:spPr>
          <a:xfrm>
            <a:off x="1512075" y="1989138"/>
            <a:ext cx="49449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Fixed Hidden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Reserve Price FPA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46"/>
          <p:cNvSpPr txBox="1">
            <a:spLocks noGrp="1"/>
          </p:cNvSpPr>
          <p:nvPr>
            <p:ph type="title" idx="2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95" name="Google Shape;395;p46"/>
          <p:cNvSpPr txBox="1">
            <a:spLocks noGrp="1"/>
          </p:cNvSpPr>
          <p:nvPr>
            <p:ph type="subTitle" idx="1"/>
          </p:nvPr>
        </p:nvSpPr>
        <p:spPr>
          <a:xfrm>
            <a:off x="1512075" y="3573275"/>
            <a:ext cx="54957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Monotone Bid Price algorithm and Fast Search algorithm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"/>
          <p:cNvSpPr txBox="1">
            <a:spLocks noGrp="1"/>
          </p:cNvSpPr>
          <p:nvPr>
            <p:ph type="title"/>
          </p:nvPr>
        </p:nvSpPr>
        <p:spPr>
          <a:xfrm>
            <a:off x="3802325" y="-734800"/>
            <a:ext cx="59775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Truthful Seller </a:t>
            </a:r>
            <a:endParaRPr sz="2400"/>
          </a:p>
        </p:txBody>
      </p:sp>
      <p:sp>
        <p:nvSpPr>
          <p:cNvPr id="401" name="Google Shape;401;p47"/>
          <p:cNvSpPr txBox="1"/>
          <p:nvPr/>
        </p:nvSpPr>
        <p:spPr>
          <a:xfrm>
            <a:off x="717200" y="750000"/>
            <a:ext cx="3039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7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Monotone Bid Price Algorithm</a:t>
            </a:r>
            <a:endParaRPr sz="1507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02" name="Google Shape;402;p47"/>
          <p:cNvSpPr txBox="1"/>
          <p:nvPr/>
        </p:nvSpPr>
        <p:spPr>
          <a:xfrm>
            <a:off x="717188" y="1156202"/>
            <a:ext cx="6566400" cy="17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00" tIns="89700" rIns="89700" bIns="89700" anchor="t" anchorCtr="0">
            <a:spAutoFit/>
          </a:bodyPr>
          <a:lstStyle/>
          <a:p>
            <a:pPr marL="448570" lvl="0" indent="-30806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9"/>
              <a:buFont typeface="Cambria"/>
              <a:buChar char="●"/>
            </a:pPr>
            <a:r>
              <a:rPr lang="en" sz="1319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Begins at low bid and increases monotonically until it wins once at bid, b</a:t>
            </a:r>
            <a:r>
              <a:rPr lang="en" sz="1319" baseline="30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</a:t>
            </a:r>
            <a:endParaRPr sz="1319" baseline="30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48570" lvl="0" indent="-308067" algn="l" rtl="0">
              <a:lnSpc>
                <a:spcPct val="115000"/>
              </a:lnSpc>
              <a:spcBef>
                <a:spcPts val="196"/>
              </a:spcBef>
              <a:spcAft>
                <a:spcPts val="0"/>
              </a:spcAft>
              <a:buClr>
                <a:schemeClr val="dk1"/>
              </a:buClr>
              <a:buSzPts val="1319"/>
              <a:buFont typeface="Cambria"/>
              <a:buChar char="●"/>
            </a:pPr>
            <a:r>
              <a:rPr lang="en" sz="1319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Bids b</a:t>
            </a:r>
            <a:r>
              <a:rPr lang="en" sz="1319" baseline="30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</a:t>
            </a:r>
            <a:r>
              <a:rPr lang="en" sz="1319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for the rest of the rounds</a:t>
            </a:r>
            <a:endParaRPr sz="1319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48570" lvl="0" indent="-308067" algn="l" rtl="0">
              <a:lnSpc>
                <a:spcPct val="115000"/>
              </a:lnSpc>
              <a:spcBef>
                <a:spcPts val="196"/>
              </a:spcBef>
              <a:spcAft>
                <a:spcPts val="0"/>
              </a:spcAft>
              <a:buClr>
                <a:schemeClr val="dk1"/>
              </a:buClr>
              <a:buSzPts val="1319"/>
              <a:buFont typeface="Cambria"/>
              <a:buChar char="●"/>
            </a:pPr>
            <a:r>
              <a:rPr lang="en" sz="1319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Attains a regret bounds of </a:t>
            </a:r>
            <a:endParaRPr sz="1319" baseline="30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94"/>
              </a:spcBef>
              <a:spcAft>
                <a:spcPts val="0"/>
              </a:spcAft>
              <a:buNone/>
            </a:pPr>
            <a:r>
              <a:rPr lang="en" sz="1319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Upper bound </a:t>
            </a:r>
            <a:r>
              <a:rPr lang="en" sz="1319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 sz="1319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94"/>
              </a:spcBef>
              <a:spcAft>
                <a:spcPts val="0"/>
              </a:spcAft>
              <a:buNone/>
            </a:pPr>
            <a:endParaRPr sz="1373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0" lvl="0" indent="0" algn="l" rtl="0">
              <a:lnSpc>
                <a:spcPct val="115000"/>
              </a:lnSpc>
              <a:spcBef>
                <a:spcPts val="196"/>
              </a:spcBef>
              <a:spcAft>
                <a:spcPts val="196"/>
              </a:spcAft>
              <a:buNone/>
            </a:pPr>
            <a:endParaRPr sz="1373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pic>
        <p:nvPicPr>
          <p:cNvPr id="403" name="Google Shape;403;p47"/>
          <p:cNvPicPr preferRelativeResize="0"/>
          <p:nvPr/>
        </p:nvPicPr>
        <p:blipFill rotWithShape="1">
          <a:blip r:embed="rId3">
            <a:alphaModFix/>
          </a:blip>
          <a:srcRect t="9060" b="16368"/>
          <a:stretch/>
        </p:blipFill>
        <p:spPr>
          <a:xfrm>
            <a:off x="3229873" y="1744275"/>
            <a:ext cx="1343400" cy="21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625" y="2247975"/>
            <a:ext cx="4316374" cy="13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7"/>
          <p:cNvSpPr txBox="1"/>
          <p:nvPr/>
        </p:nvSpPr>
        <p:spPr>
          <a:xfrm>
            <a:off x="717200" y="3635000"/>
            <a:ext cx="77799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Lower Bound : </a:t>
            </a:r>
            <a:r>
              <a:rPr lang="en" sz="1319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Let k</a:t>
            </a:r>
            <a:r>
              <a:rPr lang="en" sz="1319" baseline="30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</a:t>
            </a:r>
            <a:r>
              <a:rPr lang="en" sz="1319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be the first time bid price is accepted and accepted bid price be b</a:t>
            </a:r>
            <a:r>
              <a:rPr lang="en" sz="1319" baseline="30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</a:t>
            </a:r>
            <a:endParaRPr sz="13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r>
              <a:rPr lang="en" sz="13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13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endParaRPr sz="13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06" name="Google Shape;406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7050" y="3985675"/>
            <a:ext cx="3522436" cy="40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8"/>
          <p:cNvSpPr txBox="1">
            <a:spLocks noGrp="1"/>
          </p:cNvSpPr>
          <p:nvPr>
            <p:ph type="title"/>
          </p:nvPr>
        </p:nvSpPr>
        <p:spPr>
          <a:xfrm>
            <a:off x="3834250" y="-757500"/>
            <a:ext cx="59775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Strategic Seller </a:t>
            </a:r>
            <a:endParaRPr sz="2400"/>
          </a:p>
        </p:txBody>
      </p:sp>
      <p:sp>
        <p:nvSpPr>
          <p:cNvPr id="412" name="Google Shape;412;p48"/>
          <p:cNvSpPr txBox="1"/>
          <p:nvPr/>
        </p:nvSpPr>
        <p:spPr>
          <a:xfrm>
            <a:off x="977950" y="967700"/>
            <a:ext cx="3190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Monotone Bid Price Algorithm</a:t>
            </a:r>
            <a:endParaRPr sz="16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3" name="Google Shape;413;p48"/>
          <p:cNvSpPr txBox="1"/>
          <p:nvPr/>
        </p:nvSpPr>
        <p:spPr>
          <a:xfrm>
            <a:off x="1080150" y="1398800"/>
            <a:ext cx="6778500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●"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Begins at low bid and increases geometrically until it wins once at bid, b</a:t>
            </a:r>
            <a:r>
              <a:rPr lang="en" sz="1319" baseline="30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●"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Bids b</a:t>
            </a:r>
            <a:r>
              <a:rPr lang="en" sz="1319" baseline="30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</a:t>
            </a: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for the rest of the rounds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●"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Attains a regret bounds of </a:t>
            </a:r>
            <a:endParaRPr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Lower Bound</a:t>
            </a: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Similar to proof of upper bound in truthful seller; bound b*- p using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And optimise k* using AM-GM inequalities  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Upper Bound:</a:t>
            </a:r>
            <a:endParaRPr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200"/>
              </a:spcAft>
              <a:buNone/>
            </a:pPr>
            <a:endParaRPr baseline="30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14" name="Google Shape;414;p48"/>
          <p:cNvPicPr preferRelativeResize="0"/>
          <p:nvPr/>
        </p:nvPicPr>
        <p:blipFill rotWithShape="1">
          <a:blip r:embed="rId3">
            <a:alphaModFix/>
          </a:blip>
          <a:srcRect t="9057"/>
          <a:stretch/>
        </p:blipFill>
        <p:spPr>
          <a:xfrm>
            <a:off x="3670040" y="2029998"/>
            <a:ext cx="1354816" cy="2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5350" y="2549600"/>
            <a:ext cx="1415475" cy="34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6600" y="3323800"/>
            <a:ext cx="4817827" cy="54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8"/>
          <p:cNvPicPr preferRelativeResize="0"/>
          <p:nvPr/>
        </p:nvPicPr>
        <p:blipFill rotWithShape="1">
          <a:blip r:embed="rId6">
            <a:alphaModFix/>
          </a:blip>
          <a:srcRect l="5402" t="66659" r="29036" b="3206"/>
          <a:stretch/>
        </p:blipFill>
        <p:spPr>
          <a:xfrm>
            <a:off x="1146600" y="3867880"/>
            <a:ext cx="3088300" cy="587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9"/>
          <p:cNvSpPr txBox="1">
            <a:spLocks noGrp="1"/>
          </p:cNvSpPr>
          <p:nvPr>
            <p:ph type="title"/>
          </p:nvPr>
        </p:nvSpPr>
        <p:spPr>
          <a:xfrm>
            <a:off x="3802325" y="-734800"/>
            <a:ext cx="59775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Truthful Seller </a:t>
            </a:r>
            <a:endParaRPr sz="2400"/>
          </a:p>
        </p:txBody>
      </p:sp>
      <p:sp>
        <p:nvSpPr>
          <p:cNvPr id="423" name="Google Shape;423;p49"/>
          <p:cNvSpPr txBox="1"/>
          <p:nvPr/>
        </p:nvSpPr>
        <p:spPr>
          <a:xfrm>
            <a:off x="993475" y="957000"/>
            <a:ext cx="295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Fast Search Algorithm</a:t>
            </a:r>
            <a:endParaRPr sz="16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24" name="Google Shape;424;p49"/>
          <p:cNvSpPr txBox="1"/>
          <p:nvPr/>
        </p:nvSpPr>
        <p:spPr>
          <a:xfrm>
            <a:off x="832875" y="1449075"/>
            <a:ext cx="8052300" cy="3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●"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Work in phases, shrinking a feasible interval [a,b] of possible reserve prices from ½ to 1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Cambria"/>
              <a:buChar char="●"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The phase has bids a, a+</a:t>
            </a:r>
            <a:r>
              <a:rPr lang="en"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ε, a+2ε,..a+kε until the bid gets accepted</a:t>
            </a:r>
            <a:endParaRPr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Cambria"/>
              <a:buChar char="●"/>
            </a:pPr>
            <a:r>
              <a:rPr lang="en"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Set upper and lower bounds as a+(k-1)ε and a+kε respectively for next phase with ε</a:t>
            </a:r>
            <a:r>
              <a:rPr lang="en" baseline="30000"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"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 as </a:t>
            </a:r>
            <a:endParaRPr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Cambria"/>
              <a:buChar char="●"/>
            </a:pPr>
            <a:endParaRPr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b="1"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   </a:t>
            </a:r>
            <a:r>
              <a:rPr lang="en" sz="1500" b="1"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Proof</a:t>
            </a:r>
            <a:endParaRPr sz="1500"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Cambria"/>
              <a:buChar char="●"/>
            </a:pPr>
            <a:r>
              <a:rPr lang="en"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 ,</a:t>
            </a:r>
            <a:endParaRPr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Cambria"/>
              <a:buChar char="●"/>
            </a:pPr>
            <a:r>
              <a:rPr lang="en">
                <a:highlight>
                  <a:srgbClr val="FFFFFF"/>
                </a:highlight>
                <a:latin typeface="Cambria"/>
                <a:ea typeface="Cambria"/>
                <a:cs typeface="Cambria"/>
                <a:sym typeface="Cambria"/>
              </a:rPr>
              <a:t>.</a:t>
            </a:r>
            <a:endParaRPr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200"/>
              <a:buFont typeface="Cambria"/>
              <a:buChar char="●"/>
            </a:pPr>
            <a:endParaRPr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1300"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endParaRPr sz="1300">
              <a:highlight>
                <a:srgbClr val="FFFFFF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25" name="Google Shape;425;p49"/>
          <p:cNvPicPr preferRelativeResize="0"/>
          <p:nvPr/>
        </p:nvPicPr>
        <p:blipFill rotWithShape="1">
          <a:blip r:embed="rId3">
            <a:alphaModFix/>
          </a:blip>
          <a:srcRect t="2171"/>
          <a:stretch/>
        </p:blipFill>
        <p:spPr>
          <a:xfrm>
            <a:off x="1291750" y="2946037"/>
            <a:ext cx="6255474" cy="1388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9"/>
          <p:cNvPicPr preferRelativeResize="0"/>
          <p:nvPr/>
        </p:nvPicPr>
        <p:blipFill rotWithShape="1">
          <a:blip r:embed="rId4">
            <a:alphaModFix/>
          </a:blip>
          <a:srcRect b="11402"/>
          <a:stretch/>
        </p:blipFill>
        <p:spPr>
          <a:xfrm>
            <a:off x="1358225" y="1566075"/>
            <a:ext cx="6718101" cy="9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0"/>
          <p:cNvSpPr txBox="1">
            <a:spLocks noGrp="1"/>
          </p:cNvSpPr>
          <p:nvPr>
            <p:ph type="title"/>
          </p:nvPr>
        </p:nvSpPr>
        <p:spPr>
          <a:xfrm>
            <a:off x="3834250" y="-757500"/>
            <a:ext cx="59775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Strategic Seller </a:t>
            </a:r>
            <a:endParaRPr sz="2400"/>
          </a:p>
        </p:txBody>
      </p:sp>
      <p:sp>
        <p:nvSpPr>
          <p:cNvPr id="432" name="Google Shape;432;p50"/>
          <p:cNvSpPr txBox="1"/>
          <p:nvPr/>
        </p:nvSpPr>
        <p:spPr>
          <a:xfrm>
            <a:off x="843350" y="461450"/>
            <a:ext cx="357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Randomized Fast Search Algorithm</a:t>
            </a:r>
            <a:endParaRPr sz="16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33" name="Google Shape;433;p50"/>
          <p:cNvSpPr txBox="1"/>
          <p:nvPr/>
        </p:nvSpPr>
        <p:spPr>
          <a:xfrm>
            <a:off x="843350" y="817650"/>
            <a:ext cx="8081100" cy="421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latin typeface="Cambria"/>
                <a:ea typeface="Cambria"/>
                <a:cs typeface="Cambria"/>
                <a:sym typeface="Cambria"/>
              </a:rPr>
              <a:t>First Phase:</a:t>
            </a:r>
            <a:br>
              <a:rPr lang="en" sz="1300" b="1" dirty="0">
                <a:latin typeface="Cambria"/>
                <a:ea typeface="Cambria"/>
                <a:cs typeface="Cambria"/>
                <a:sym typeface="Cambria"/>
              </a:rPr>
            </a:b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Begin with initial interval [a</a:t>
            </a:r>
            <a:r>
              <a:rPr lang="en" sz="1300" baseline="-25000" dirty="0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,b</a:t>
            </a:r>
            <a:r>
              <a:rPr lang="en" sz="1300" baseline="-25000" dirty="0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]=[0,v] and split it into n sub intervals. Randomly select one sub-interval and offer </a:t>
            </a:r>
            <a:endParaRPr sz="13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log⁡ log⁡T bid prices within it. Select k such sub-intervals</a:t>
            </a:r>
            <a:br>
              <a:rPr lang="en" sz="1300" dirty="0">
                <a:latin typeface="Cambria"/>
                <a:ea typeface="Cambria"/>
                <a:cs typeface="Cambria"/>
                <a:sym typeface="Cambria"/>
              </a:rPr>
            </a:br>
            <a:endParaRPr sz="13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latin typeface="Cambria"/>
                <a:ea typeface="Cambria"/>
                <a:cs typeface="Cambria"/>
                <a:sym typeface="Cambria"/>
              </a:rPr>
              <a:t>Acceptance case in first phase:</a:t>
            </a:r>
            <a:br>
              <a:rPr lang="en" sz="1300" b="1" dirty="0">
                <a:latin typeface="Cambria"/>
                <a:ea typeface="Cambria"/>
                <a:cs typeface="Cambria"/>
                <a:sym typeface="Cambria"/>
              </a:rPr>
            </a:b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Identify the smallest sub-interval [a</a:t>
            </a:r>
            <a:r>
              <a:rPr lang="en" sz="1300" baseline="-25000" dirty="0"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,b</a:t>
            </a:r>
            <a:r>
              <a:rPr lang="en" sz="1300" baseline="-25000" dirty="0">
                <a:latin typeface="Cambria"/>
                <a:ea typeface="Cambria"/>
                <a:cs typeface="Cambria"/>
                <a:sym typeface="Cambria"/>
              </a:rPr>
              <a:t>i </a:t>
            </a: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] containing an accepted price. This ensures true reserve price p lies in [0,b</a:t>
            </a:r>
            <a:r>
              <a:rPr lang="en" sz="1300" baseline="-25000" dirty="0">
                <a:latin typeface="Cambria"/>
                <a:ea typeface="Cambria"/>
                <a:cs typeface="Cambria"/>
                <a:sym typeface="Cambria"/>
              </a:rPr>
              <a:t>i </a:t>
            </a: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]</a:t>
            </a:r>
            <a:br>
              <a:rPr lang="en" sz="1300" dirty="0">
                <a:latin typeface="Cambria"/>
                <a:ea typeface="Cambria"/>
                <a:cs typeface="Cambria"/>
                <a:sym typeface="Cambria"/>
              </a:rPr>
            </a:br>
            <a:endParaRPr sz="13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latin typeface="Cambria"/>
                <a:ea typeface="Cambria"/>
                <a:cs typeface="Cambria"/>
                <a:sym typeface="Cambria"/>
              </a:rPr>
              <a:t>Rejection case in first phase:</a:t>
            </a:r>
            <a:br>
              <a:rPr lang="en" sz="1300" b="1" dirty="0">
                <a:latin typeface="Cambria"/>
                <a:ea typeface="Cambria"/>
                <a:cs typeface="Cambria"/>
                <a:sym typeface="Cambria"/>
              </a:rPr>
            </a:b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If no bid is accepted in a chosen sub-interval, repeat the first-phase selection at most k</a:t>
            </a:r>
            <a:r>
              <a:rPr lang="en" sz="1300" baseline="-25000" dirty="0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​ times</a:t>
            </a:r>
            <a:endParaRPr sz="13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latin typeface="Cambria"/>
                <a:ea typeface="Cambria"/>
                <a:cs typeface="Cambria"/>
                <a:sym typeface="Cambria"/>
              </a:rPr>
              <a:t>Refinement phase:</a:t>
            </a:r>
            <a:br>
              <a:rPr lang="en" sz="1300" b="1" dirty="0">
                <a:latin typeface="Cambria"/>
                <a:ea typeface="Cambria"/>
                <a:cs typeface="Cambria"/>
                <a:sym typeface="Cambria"/>
              </a:rPr>
            </a:b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Use the accepted interval from the first phase, divide it again into n sub intervals, and randomly choose k sub intervals. Offer log logT bids and find the minimum interval from which a price is accepted. Repeat this bidding for k</a:t>
            </a:r>
            <a:r>
              <a:rPr lang="en" sz="1300" baseline="-25000" dirty="0"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​ phases. </a:t>
            </a:r>
            <a:endParaRPr sz="13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latin typeface="Cambria"/>
                <a:ea typeface="Cambria"/>
                <a:cs typeface="Cambria"/>
                <a:sym typeface="Cambria"/>
              </a:rPr>
              <a:t>Final FS stage:</a:t>
            </a:r>
            <a:br>
              <a:rPr lang="en" sz="1300" b="1" dirty="0">
                <a:latin typeface="Cambria"/>
                <a:ea typeface="Cambria"/>
                <a:cs typeface="Cambria"/>
                <a:sym typeface="Cambria"/>
              </a:rPr>
            </a:b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Apply Fast Search normally for another log⁡ log T phases to produce a final estimate of the reserve price.</a:t>
            </a:r>
            <a:endParaRPr sz="13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34" name="Google Shape;434;p50"/>
          <p:cNvSpPr txBox="1">
            <a:spLocks noGrp="1"/>
          </p:cNvSpPr>
          <p:nvPr>
            <p:ph type="subTitle" idx="1"/>
          </p:nvPr>
        </p:nvSpPr>
        <p:spPr>
          <a:xfrm>
            <a:off x="500850" y="4586341"/>
            <a:ext cx="8142300" cy="5571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latin typeface="Cambria"/>
                <a:ea typeface="Cambria"/>
                <a:cs typeface="Cambria"/>
                <a:sym typeface="Cambria"/>
              </a:rPr>
              <a:t>FS Algorithm produces O(log log T) regret. The Randomised FS includes k.k</a:t>
            </a:r>
            <a:r>
              <a:rPr lang="en" sz="1250" baseline="-25000" dirty="0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 sz="1250" dirty="0">
                <a:latin typeface="Cambria"/>
                <a:ea typeface="Cambria"/>
                <a:cs typeface="Cambria"/>
                <a:sym typeface="Cambria"/>
              </a:rPr>
              <a:t>.k</a:t>
            </a:r>
            <a:r>
              <a:rPr lang="en" sz="1250" baseline="-25000" dirty="0">
                <a:latin typeface="Cambria"/>
                <a:ea typeface="Cambria"/>
                <a:cs typeface="Cambria"/>
                <a:sym typeface="Cambria"/>
              </a:rPr>
              <a:t>2  </a:t>
            </a:r>
            <a:r>
              <a:rPr lang="en" sz="1250" dirty="0">
                <a:latin typeface="Cambria"/>
                <a:ea typeface="Cambria"/>
                <a:cs typeface="Cambria"/>
                <a:sym typeface="Cambria"/>
              </a:rPr>
              <a:t>(log log T)</a:t>
            </a:r>
            <a:r>
              <a:rPr lang="en" sz="1250" baseline="30000" dirty="0"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" sz="1250" dirty="0">
                <a:latin typeface="Cambria"/>
                <a:ea typeface="Cambria"/>
                <a:cs typeface="Cambria"/>
                <a:sym typeface="Cambria"/>
              </a:rPr>
              <a:t> rounds before FS,</a:t>
            </a:r>
            <a:endParaRPr sz="125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latin typeface="Cambria"/>
                <a:ea typeface="Cambria"/>
                <a:cs typeface="Cambria"/>
                <a:sym typeface="Cambria"/>
              </a:rPr>
              <a:t>giving O(log</a:t>
            </a:r>
            <a:r>
              <a:rPr lang="en" sz="1250" baseline="30000" dirty="0"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en" sz="1250" dirty="0">
                <a:latin typeface="Cambria"/>
                <a:ea typeface="Cambria"/>
                <a:cs typeface="Cambria"/>
                <a:sym typeface="Cambria"/>
              </a:rPr>
              <a:t>T (log log T)</a:t>
            </a:r>
            <a:r>
              <a:rPr lang="en" sz="1250" baseline="30000" dirty="0"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" sz="1250" dirty="0">
                <a:latin typeface="Cambria"/>
                <a:ea typeface="Cambria"/>
                <a:cs typeface="Cambria"/>
                <a:sym typeface="Cambria"/>
              </a:rPr>
              <a:t>) regret</a:t>
            </a:r>
            <a:endParaRPr sz="125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9" name="Google Shape;439;p51"/>
          <p:cNvGrpSpPr/>
          <p:nvPr/>
        </p:nvGrpSpPr>
        <p:grpSpPr>
          <a:xfrm>
            <a:off x="6670200" y="0"/>
            <a:ext cx="2473800" cy="4131000"/>
            <a:chOff x="6670200" y="0"/>
            <a:chExt cx="2473800" cy="4131000"/>
          </a:xfrm>
        </p:grpSpPr>
        <p:sp>
          <p:nvSpPr>
            <p:cNvPr id="440" name="Google Shape;440;p51"/>
            <p:cNvSpPr/>
            <p:nvPr/>
          </p:nvSpPr>
          <p:spPr>
            <a:xfrm flipH="1">
              <a:off x="667020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1" name="Google Shape;441;p51"/>
            <p:cNvCxnSpPr/>
            <p:nvPr/>
          </p:nvCxnSpPr>
          <p:spPr>
            <a:xfrm rot="10800000">
              <a:off x="843275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42" name="Google Shape;442;p51"/>
          <p:cNvSpPr txBox="1">
            <a:spLocks noGrp="1"/>
          </p:cNvSpPr>
          <p:nvPr>
            <p:ph type="title"/>
          </p:nvPr>
        </p:nvSpPr>
        <p:spPr>
          <a:xfrm flipH="1">
            <a:off x="1478325" y="2036300"/>
            <a:ext cx="61536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Reserve Prices drawn from Distribution</a:t>
            </a:r>
            <a:endParaRPr/>
          </a:p>
        </p:txBody>
      </p:sp>
      <p:sp>
        <p:nvSpPr>
          <p:cNvPr id="443" name="Google Shape;443;p51"/>
          <p:cNvSpPr txBox="1">
            <a:spLocks noGrp="1"/>
          </p:cNvSpPr>
          <p:nvPr>
            <p:ph type="title" idx="2"/>
          </p:nvPr>
        </p:nvSpPr>
        <p:spPr>
          <a:xfrm flipH="1">
            <a:off x="4901525" y="1012500"/>
            <a:ext cx="3267000" cy="8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44" name="Google Shape;444;p51"/>
          <p:cNvSpPr txBox="1">
            <a:spLocks noGrp="1"/>
          </p:cNvSpPr>
          <p:nvPr>
            <p:ph type="subTitle" idx="4294967295"/>
          </p:nvPr>
        </p:nvSpPr>
        <p:spPr>
          <a:xfrm>
            <a:off x="1398850" y="3667600"/>
            <a:ext cx="62790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Explore-Then-Commit and Explore-Exploit Multi Stage algorithms for SPA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6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Explore then Commit Algorithm</a:t>
            </a:r>
            <a:endParaRPr sz="2400"/>
          </a:p>
        </p:txBody>
      </p:sp>
      <p:sp>
        <p:nvSpPr>
          <p:cNvPr id="450" name="Google Shape;450;p52"/>
          <p:cNvSpPr/>
          <p:nvPr/>
        </p:nvSpPr>
        <p:spPr>
          <a:xfrm>
            <a:off x="1149100" y="657100"/>
            <a:ext cx="3407400" cy="29646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451" name="Google Shape;451;p52"/>
          <p:cNvSpPr/>
          <p:nvPr/>
        </p:nvSpPr>
        <p:spPr>
          <a:xfrm>
            <a:off x="5188550" y="665475"/>
            <a:ext cx="3512100" cy="29646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452" name="Google Shape;452;p52"/>
          <p:cNvSpPr txBox="1"/>
          <p:nvPr/>
        </p:nvSpPr>
        <p:spPr>
          <a:xfrm>
            <a:off x="1953375" y="798325"/>
            <a:ext cx="16239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Stochastic SPA</a:t>
            </a: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3" name="Google Shape;453;p52"/>
          <p:cNvSpPr txBox="1"/>
          <p:nvPr/>
        </p:nvSpPr>
        <p:spPr>
          <a:xfrm>
            <a:off x="6132650" y="798325"/>
            <a:ext cx="16239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Stochastic FPA</a:t>
            </a:r>
            <a:endParaRPr sz="15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4" name="Google Shape;454;p52"/>
          <p:cNvSpPr txBox="1"/>
          <p:nvPr/>
        </p:nvSpPr>
        <p:spPr>
          <a:xfrm>
            <a:off x="1001050" y="1138700"/>
            <a:ext cx="3339600" cy="25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 b="1">
                <a:latin typeface="Cambria"/>
                <a:ea typeface="Cambria"/>
                <a:cs typeface="Cambria"/>
                <a:sym typeface="Cambria"/>
              </a:rPr>
              <a:t>Exploration Phase:</a:t>
            </a:r>
            <a:r>
              <a:rPr lang="en" sz="1300">
                <a:latin typeface="Cambria"/>
                <a:ea typeface="Cambria"/>
                <a:cs typeface="Cambria"/>
                <a:sym typeface="Cambria"/>
              </a:rPr>
              <a:t> 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mbria"/>
                <a:ea typeface="Cambria"/>
                <a:cs typeface="Cambria"/>
                <a:sym typeface="Cambria"/>
              </a:rPr>
              <a:t>Set the bid price b to 1 for auctions upto time (T</a:t>
            </a:r>
            <a:r>
              <a:rPr lang="en" sz="1300" baseline="-25000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 sz="1300">
                <a:latin typeface="Cambria"/>
                <a:ea typeface="Cambria"/>
                <a:cs typeface="Cambria"/>
                <a:sym typeface="Cambria"/>
              </a:rPr>
              <a:t>), and record the accepted reserve prices {p</a:t>
            </a:r>
            <a:r>
              <a:rPr lang="en" sz="1300" baseline="-25000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 sz="1300">
                <a:latin typeface="Cambria"/>
                <a:ea typeface="Cambria"/>
                <a:cs typeface="Cambria"/>
                <a:sym typeface="Cambria"/>
              </a:rPr>
              <a:t>, p</a:t>
            </a:r>
            <a:r>
              <a:rPr lang="en" sz="1300" baseline="-25000"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" sz="1300">
                <a:latin typeface="Cambria"/>
                <a:ea typeface="Cambria"/>
                <a:cs typeface="Cambria"/>
                <a:sym typeface="Cambria"/>
              </a:rPr>
              <a:t>,.., p</a:t>
            </a:r>
            <a:r>
              <a:rPr lang="en" sz="1300" baseline="-25000">
                <a:latin typeface="Cambria"/>
                <a:ea typeface="Cambria"/>
                <a:cs typeface="Cambria"/>
                <a:sym typeface="Cambria"/>
              </a:rPr>
              <a:t>T1</a:t>
            </a:r>
            <a:r>
              <a:rPr lang="en" sz="1300">
                <a:latin typeface="Cambria"/>
                <a:ea typeface="Cambria"/>
                <a:cs typeface="Cambria"/>
                <a:sym typeface="Cambria"/>
              </a:rPr>
              <a:t>}.</a:t>
            </a:r>
            <a:br>
              <a:rPr lang="en" sz="1300">
                <a:latin typeface="Cambria"/>
                <a:ea typeface="Cambria"/>
                <a:cs typeface="Cambria"/>
                <a:sym typeface="Cambria"/>
              </a:rPr>
            </a:br>
            <a:endParaRPr sz="13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>
                <a:latin typeface="Cambria"/>
                <a:ea typeface="Cambria"/>
                <a:cs typeface="Cambria"/>
                <a:sym typeface="Cambria"/>
              </a:rPr>
              <a:t>Exploitation Phase:</a:t>
            </a:r>
            <a:r>
              <a:rPr lang="en" sz="1300">
                <a:latin typeface="Cambria"/>
                <a:ea typeface="Cambria"/>
                <a:cs typeface="Cambria"/>
                <a:sym typeface="Cambria"/>
              </a:rPr>
              <a:t> 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mbria"/>
                <a:ea typeface="Cambria"/>
                <a:cs typeface="Cambria"/>
                <a:sym typeface="Cambria"/>
              </a:rPr>
              <a:t>Compute an estimate </a:t>
            </a:r>
            <a:r>
              <a:rPr lang="en" sz="1550">
                <a:highlight>
                  <a:srgbClr val="F8F4F1"/>
                </a:highlight>
                <a:latin typeface="Cambria"/>
                <a:ea typeface="Cambria"/>
                <a:cs typeface="Cambria"/>
                <a:sym typeface="Cambria"/>
              </a:rPr>
              <a:t>μ</a:t>
            </a:r>
            <a:r>
              <a:rPr lang="en" sz="1300">
                <a:latin typeface="Cambria"/>
                <a:ea typeface="Cambria"/>
                <a:cs typeface="Cambria"/>
                <a:sym typeface="Cambria"/>
              </a:rPr>
              <a:t> from the observed prices and use </a:t>
            </a:r>
            <a:r>
              <a:rPr lang="en" sz="1550">
                <a:highlight>
                  <a:srgbClr val="F8F4F1"/>
                </a:highlight>
                <a:latin typeface="Cambria"/>
                <a:ea typeface="Cambria"/>
                <a:cs typeface="Cambria"/>
                <a:sym typeface="Cambria"/>
              </a:rPr>
              <a:t>μ</a:t>
            </a:r>
            <a:r>
              <a:rPr lang="en" sz="1550" b="1">
                <a:highlight>
                  <a:srgbClr val="F8F4F1"/>
                </a:highlight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300">
                <a:latin typeface="Cambria"/>
                <a:ea typeface="Cambria"/>
                <a:cs typeface="Cambria"/>
                <a:sym typeface="Cambria"/>
              </a:rPr>
              <a:t>as the bid price for the remaining (T - T</a:t>
            </a:r>
            <a:r>
              <a:rPr lang="en" sz="1300" baseline="-25000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 sz="1300">
                <a:latin typeface="Cambria"/>
                <a:ea typeface="Cambria"/>
                <a:cs typeface="Cambria"/>
                <a:sym typeface="Cambria"/>
              </a:rPr>
              <a:t>) auctions.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5" name="Google Shape;455;p52"/>
          <p:cNvSpPr txBox="1"/>
          <p:nvPr/>
        </p:nvSpPr>
        <p:spPr>
          <a:xfrm>
            <a:off x="5070475" y="1138700"/>
            <a:ext cx="3339600" cy="2267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>
                <a:latin typeface="Cambria"/>
                <a:ea typeface="Cambria"/>
                <a:cs typeface="Cambria"/>
                <a:sym typeface="Cambria"/>
              </a:rPr>
              <a:t>Exploration Phase:</a:t>
            </a: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 </a:t>
            </a:r>
            <a:endParaRPr sz="13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Set the bid price to                       each for T</a:t>
            </a:r>
            <a:r>
              <a:rPr lang="en" sz="1300" baseline="-25000" dirty="0"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 times and .</a:t>
            </a:r>
            <a:br>
              <a:rPr lang="en" sz="1300" dirty="0">
                <a:latin typeface="Cambria"/>
                <a:ea typeface="Cambria"/>
                <a:cs typeface="Cambria"/>
                <a:sym typeface="Cambria"/>
              </a:rPr>
            </a:br>
            <a:endParaRPr sz="13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>
                <a:latin typeface="Cambria"/>
                <a:ea typeface="Cambria"/>
                <a:cs typeface="Cambria"/>
                <a:sym typeface="Cambria"/>
              </a:rPr>
              <a:t>Exploitation Phase:</a:t>
            </a: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 </a:t>
            </a:r>
            <a:endParaRPr sz="13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Compute an estimate </a:t>
            </a:r>
            <a:r>
              <a:rPr lang="en" sz="1550" dirty="0">
                <a:highlight>
                  <a:srgbClr val="F8F4F1"/>
                </a:highlight>
                <a:latin typeface="Cambria"/>
                <a:ea typeface="Cambria"/>
                <a:cs typeface="Cambria"/>
                <a:sym typeface="Cambria"/>
              </a:rPr>
              <a:t>μ</a:t>
            </a: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 of the winning bids and use </a:t>
            </a:r>
            <a:r>
              <a:rPr lang="en" sz="1550" dirty="0">
                <a:highlight>
                  <a:srgbClr val="F8F4F1"/>
                </a:highlight>
                <a:latin typeface="Cambria"/>
                <a:ea typeface="Cambria"/>
                <a:cs typeface="Cambria"/>
                <a:sym typeface="Cambria"/>
              </a:rPr>
              <a:t>μ</a:t>
            </a:r>
            <a:r>
              <a:rPr lang="en" sz="1550" b="1" dirty="0">
                <a:highlight>
                  <a:srgbClr val="F8F4F1"/>
                </a:highlight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as the bid price for the remaining (T -       ) auctions.</a:t>
            </a:r>
            <a:endParaRPr sz="13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56" name="Google Shape;45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7300" y="1393750"/>
            <a:ext cx="617733" cy="28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4600" y="1649025"/>
            <a:ext cx="820766" cy="22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5938" y="2884375"/>
            <a:ext cx="188674" cy="23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52"/>
          <p:cNvSpPr txBox="1">
            <a:spLocks noGrp="1"/>
          </p:cNvSpPr>
          <p:nvPr>
            <p:ph type="subTitle" idx="1"/>
          </p:nvPr>
        </p:nvSpPr>
        <p:spPr>
          <a:xfrm>
            <a:off x="954650" y="4499225"/>
            <a:ext cx="81423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For SPA, T</a:t>
            </a:r>
            <a:r>
              <a:rPr lang="en" sz="1250" baseline="-25000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=T</a:t>
            </a:r>
            <a:r>
              <a:rPr lang="en" sz="1250" baseline="30000">
                <a:latin typeface="Cambria"/>
                <a:ea typeface="Cambria"/>
                <a:cs typeface="Cambria"/>
                <a:sym typeface="Cambria"/>
              </a:rPr>
              <a:t>⅔</a:t>
            </a: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 gives regret of O(T</a:t>
            </a:r>
            <a:r>
              <a:rPr lang="en" sz="1250" baseline="30000">
                <a:latin typeface="Cambria"/>
                <a:ea typeface="Cambria"/>
                <a:cs typeface="Cambria"/>
                <a:sym typeface="Cambria"/>
              </a:rPr>
              <a:t>2/3</a:t>
            </a: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 lnT) by taking δ=1/T</a:t>
            </a:r>
            <a:r>
              <a:rPr lang="en" sz="1250" baseline="30000">
                <a:latin typeface="Cambria"/>
                <a:ea typeface="Cambria"/>
                <a:cs typeface="Cambria"/>
                <a:sym typeface="Cambria"/>
              </a:rPr>
              <a:t>2</a:t>
            </a:r>
            <a:endParaRPr sz="1250" baseline="300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For FPA, exploration phase is MT</a:t>
            </a:r>
            <a:r>
              <a:rPr lang="en" sz="1250" baseline="30000">
                <a:latin typeface="Cambria"/>
                <a:ea typeface="Cambria"/>
                <a:cs typeface="Cambria"/>
                <a:sym typeface="Cambria"/>
              </a:rPr>
              <a:t>⅔</a:t>
            </a: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 and so regret is O(M lnT T</a:t>
            </a:r>
            <a:r>
              <a:rPr lang="en" sz="1250" baseline="30000">
                <a:latin typeface="Cambria"/>
                <a:ea typeface="Cambria"/>
                <a:cs typeface="Cambria"/>
                <a:sym typeface="Cambria"/>
              </a:rPr>
              <a:t>⅔</a:t>
            </a: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)=O((ln T)</a:t>
            </a:r>
            <a:r>
              <a:rPr lang="en" sz="1250" baseline="30000"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.T</a:t>
            </a:r>
            <a:r>
              <a:rPr lang="en" sz="1250" baseline="30000">
                <a:latin typeface="Cambria"/>
                <a:ea typeface="Cambria"/>
                <a:cs typeface="Cambria"/>
                <a:sym typeface="Cambria"/>
              </a:rPr>
              <a:t>⅔</a:t>
            </a: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) for M= ln T</a:t>
            </a:r>
            <a:endParaRPr sz="125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5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5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0"/>
          </a:p>
        </p:txBody>
      </p:sp>
      <p:sp>
        <p:nvSpPr>
          <p:cNvPr id="460" name="Google Shape;460;p52"/>
          <p:cNvSpPr txBox="1">
            <a:spLocks noGrp="1"/>
          </p:cNvSpPr>
          <p:nvPr>
            <p:ph type="subTitle" idx="1"/>
          </p:nvPr>
        </p:nvSpPr>
        <p:spPr>
          <a:xfrm>
            <a:off x="779525" y="3770313"/>
            <a:ext cx="81423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Using DKW Inequality, 					        for  		        and</a:t>
            </a:r>
            <a:endParaRPr sz="1300" dirty="0">
              <a:latin typeface="Cambria"/>
              <a:ea typeface="Cambria"/>
              <a:cs typeface="Cambria"/>
              <a:sym typeface="Cambria"/>
            </a:endParaRPr>
          </a:p>
          <a:p>
            <a:pPr marL="457200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            (If Exploration phase length is T</a:t>
            </a:r>
            <a:r>
              <a:rPr lang="en" sz="1300" baseline="-25000" dirty="0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" sz="1300" dirty="0">
                <a:latin typeface="Cambria"/>
                <a:ea typeface="Cambria"/>
                <a:cs typeface="Cambria"/>
                <a:sym typeface="Cambria"/>
              </a:rPr>
              <a:t>)</a:t>
            </a:r>
            <a:endParaRPr sz="1300" baseline="-250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61" name="Google Shape;461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2225" y="3805350"/>
            <a:ext cx="2338050" cy="40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72874" y="3774188"/>
            <a:ext cx="1119425" cy="38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35650" y="3728088"/>
            <a:ext cx="1986825" cy="476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6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Explore Exploit Multi Stage Algorithm</a:t>
            </a:r>
            <a:endParaRPr sz="2400"/>
          </a:p>
        </p:txBody>
      </p:sp>
      <p:sp>
        <p:nvSpPr>
          <p:cNvPr id="469" name="Google Shape;469;p53"/>
          <p:cNvSpPr/>
          <p:nvPr/>
        </p:nvSpPr>
        <p:spPr>
          <a:xfrm>
            <a:off x="825500" y="1053100"/>
            <a:ext cx="4080600" cy="30957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470" name="Google Shape;470;p53"/>
          <p:cNvSpPr/>
          <p:nvPr/>
        </p:nvSpPr>
        <p:spPr>
          <a:xfrm>
            <a:off x="5047075" y="1061475"/>
            <a:ext cx="3974700" cy="30957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471" name="Google Shape;471;p53"/>
          <p:cNvSpPr txBox="1"/>
          <p:nvPr/>
        </p:nvSpPr>
        <p:spPr>
          <a:xfrm>
            <a:off x="2156725" y="1194325"/>
            <a:ext cx="16239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Stochastic SPA</a:t>
            </a:r>
            <a:endParaRPr b="1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472" name="Google Shape;472;p53"/>
          <p:cNvSpPr txBox="1"/>
          <p:nvPr/>
        </p:nvSpPr>
        <p:spPr>
          <a:xfrm>
            <a:off x="6336000" y="1194325"/>
            <a:ext cx="16239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Stochastic FPA</a:t>
            </a:r>
            <a:endParaRPr b="1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473" name="Google Shape;473;p53"/>
          <p:cNvSpPr txBox="1"/>
          <p:nvPr/>
        </p:nvSpPr>
        <p:spPr>
          <a:xfrm>
            <a:off x="1204400" y="1534700"/>
            <a:ext cx="33396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1300">
                <a:latin typeface="Commissioner"/>
                <a:ea typeface="Commissioner"/>
                <a:cs typeface="Commissioner"/>
                <a:sym typeface="Commissioner"/>
              </a:rPr>
            </a:br>
            <a:endParaRPr sz="1300">
              <a:latin typeface="Commissioner"/>
              <a:ea typeface="Commissioner"/>
              <a:cs typeface="Commissioner"/>
              <a:sym typeface="Commissioner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Commissioner"/>
              <a:buChar char="●"/>
            </a:pPr>
            <a:r>
              <a:rPr lang="en" sz="1300">
                <a:latin typeface="Commissioner"/>
                <a:ea typeface="Commissioner"/>
                <a:cs typeface="Commissioner"/>
                <a:sym typeface="Commissioner"/>
              </a:rPr>
              <a:t>Buyer wins if he bids above p and pays his  bid amount</a:t>
            </a:r>
            <a:endParaRPr sz="1300"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474" name="Google Shape;474;p53"/>
          <p:cNvSpPr txBox="1"/>
          <p:nvPr/>
        </p:nvSpPr>
        <p:spPr>
          <a:xfrm>
            <a:off x="5246625" y="1534700"/>
            <a:ext cx="3600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ommissioner"/>
              <a:ea typeface="Commissioner"/>
              <a:cs typeface="Commissioner"/>
              <a:sym typeface="Commissioner"/>
            </a:endParaRPr>
          </a:p>
        </p:txBody>
      </p:sp>
      <p:pic>
        <p:nvPicPr>
          <p:cNvPr id="475" name="Google Shape;47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850" y="1684325"/>
            <a:ext cx="3974700" cy="2100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3"/>
          <p:cNvPicPr preferRelativeResize="0"/>
          <p:nvPr/>
        </p:nvPicPr>
        <p:blipFill rotWithShape="1">
          <a:blip r:embed="rId4">
            <a:alphaModFix/>
          </a:blip>
          <a:srcRect l="1953" r="3233"/>
          <a:stretch/>
        </p:blipFill>
        <p:spPr>
          <a:xfrm>
            <a:off x="5099988" y="1563988"/>
            <a:ext cx="3868876" cy="234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6324" y="2703650"/>
            <a:ext cx="179650" cy="13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4"/>
          <p:cNvSpPr txBox="1">
            <a:spLocks noGrp="1"/>
          </p:cNvSpPr>
          <p:nvPr>
            <p:ph type="title"/>
          </p:nvPr>
        </p:nvSpPr>
        <p:spPr>
          <a:xfrm>
            <a:off x="137850" y="-208863"/>
            <a:ext cx="4863300" cy="8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Comparative Study</a:t>
            </a:r>
            <a:endParaRPr sz="2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7AB050-F86D-9F59-049E-BE9A47737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4263"/>
            <a:ext cx="8201016" cy="243495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5"/>
          <p:cNvSpPr txBox="1">
            <a:spLocks noGrp="1"/>
          </p:cNvSpPr>
          <p:nvPr>
            <p:ph type="title"/>
          </p:nvPr>
        </p:nvSpPr>
        <p:spPr>
          <a:xfrm>
            <a:off x="637550" y="248000"/>
            <a:ext cx="64590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Exploratory Questions</a:t>
            </a:r>
            <a:endParaRPr sz="2800"/>
          </a:p>
        </p:txBody>
      </p:sp>
      <p:sp>
        <p:nvSpPr>
          <p:cNvPr id="489" name="Google Shape;489;p55"/>
          <p:cNvSpPr txBox="1"/>
          <p:nvPr/>
        </p:nvSpPr>
        <p:spPr>
          <a:xfrm>
            <a:off x="897700" y="1444200"/>
            <a:ext cx="6849000" cy="22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Strategic seller in Stochastic Reserve Price</a:t>
            </a:r>
            <a:endParaRPr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repeated auction, seller draws         	  and inflates it to      adversarially        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Budget Constrained Buyers </a:t>
            </a:r>
            <a:endParaRPr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Extend stochastic reserve-price models to budgeted buyers using </a:t>
            </a:r>
            <a:endParaRPr/>
          </a:p>
          <a:p>
            <a:pPr marL="457200" lvl="0" indent="-88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  Bandits-with-Knapsacks ideas</a:t>
            </a:r>
            <a:endParaRPr/>
          </a:p>
          <a:p>
            <a:pPr marL="457200" lvl="0" indent="-88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  Shadow-price methods: Index rules like UCB(reward) − λₜ·LCB(cost)</a:t>
            </a:r>
            <a:endParaRPr/>
          </a:p>
        </p:txBody>
      </p:sp>
      <p:pic>
        <p:nvPicPr>
          <p:cNvPr id="490" name="Google Shape;49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5022" y="2090395"/>
            <a:ext cx="656025" cy="2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1456" y="2090395"/>
            <a:ext cx="237417" cy="24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6"/>
          <p:cNvSpPr txBox="1"/>
          <p:nvPr/>
        </p:nvSpPr>
        <p:spPr>
          <a:xfrm>
            <a:off x="3503100" y="1619050"/>
            <a:ext cx="5010000" cy="18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Appendix</a:t>
            </a:r>
            <a:endParaRPr sz="3600" b="1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7"/>
          <p:cNvSpPr txBox="1">
            <a:spLocks noGrp="1"/>
          </p:cNvSpPr>
          <p:nvPr>
            <p:ph type="title"/>
          </p:nvPr>
        </p:nvSpPr>
        <p:spPr>
          <a:xfrm>
            <a:off x="3505075" y="-765025"/>
            <a:ext cx="59775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Truthful Seller </a:t>
            </a:r>
            <a:endParaRPr sz="2400"/>
          </a:p>
        </p:txBody>
      </p:sp>
      <p:sp>
        <p:nvSpPr>
          <p:cNvPr id="502" name="Google Shape;502;p57"/>
          <p:cNvSpPr txBox="1"/>
          <p:nvPr/>
        </p:nvSpPr>
        <p:spPr>
          <a:xfrm>
            <a:off x="896625" y="850575"/>
            <a:ext cx="28536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7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Monotone Bid Price Algorithm</a:t>
            </a:r>
            <a:endParaRPr sz="1507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03" name="Google Shape;503;p57"/>
          <p:cNvSpPr txBox="1"/>
          <p:nvPr/>
        </p:nvSpPr>
        <p:spPr>
          <a:xfrm>
            <a:off x="896627" y="234835"/>
            <a:ext cx="6566400" cy="3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00" tIns="89700" rIns="89700" bIns="89700" anchor="t" anchorCtr="0">
            <a:spAutoFit/>
          </a:bodyPr>
          <a:lstStyle/>
          <a:p>
            <a:pPr marL="44857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19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</a:t>
            </a:r>
            <a:endParaRPr sz="1319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48570" lvl="0" indent="0" algn="l" rtl="0">
              <a:lnSpc>
                <a:spcPct val="115000"/>
              </a:lnSpc>
              <a:spcBef>
                <a:spcPts val="196"/>
              </a:spcBef>
              <a:spcAft>
                <a:spcPts val="0"/>
              </a:spcAft>
              <a:buNone/>
            </a:pPr>
            <a:endParaRPr sz="1319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48570" lvl="0" indent="0" algn="l" rtl="0">
              <a:lnSpc>
                <a:spcPct val="115000"/>
              </a:lnSpc>
              <a:spcBef>
                <a:spcPts val="196"/>
              </a:spcBef>
              <a:spcAft>
                <a:spcPts val="0"/>
              </a:spcAft>
              <a:buNone/>
            </a:pPr>
            <a:endParaRPr sz="1319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48570" lvl="0" indent="0" algn="l" rtl="0">
              <a:lnSpc>
                <a:spcPct val="115000"/>
              </a:lnSpc>
              <a:spcBef>
                <a:spcPts val="196"/>
              </a:spcBef>
              <a:spcAft>
                <a:spcPts val="0"/>
              </a:spcAft>
              <a:buNone/>
            </a:pPr>
            <a:endParaRPr sz="1319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94"/>
              </a:spcBef>
              <a:spcAft>
                <a:spcPts val="0"/>
              </a:spcAft>
              <a:buNone/>
            </a:pPr>
            <a:r>
              <a:rPr lang="en" sz="1319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Proof Sketch :</a:t>
            </a:r>
            <a:endParaRPr sz="1319" baseline="30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94"/>
              </a:spcBef>
              <a:spcAft>
                <a:spcPts val="0"/>
              </a:spcAft>
              <a:buNone/>
            </a:pPr>
            <a:r>
              <a:rPr lang="en" sz="1319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Upper bound </a:t>
            </a:r>
            <a:r>
              <a:rPr lang="en" sz="1319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 sz="1319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94"/>
              </a:spcBef>
              <a:spcAft>
                <a:spcPts val="0"/>
              </a:spcAft>
              <a:buNone/>
            </a:pPr>
            <a:r>
              <a:rPr lang="en" sz="1219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We assume that				    and   	                   and so</a:t>
            </a:r>
            <a:endParaRPr sz="1219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94"/>
              </a:spcBef>
              <a:spcAft>
                <a:spcPts val="0"/>
              </a:spcAft>
              <a:buNone/>
            </a:pPr>
            <a:r>
              <a:rPr lang="en" sz="1219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Regret </a:t>
            </a:r>
            <a:endParaRPr sz="1219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19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We bound			       	    using</a:t>
            </a:r>
            <a:endParaRPr sz="1219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19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Now we take  	        such that 					    to get</a:t>
            </a:r>
            <a:endParaRPr sz="1219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219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							       and so Regret</a:t>
            </a:r>
            <a:endParaRPr sz="1219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94"/>
              </a:spcBef>
              <a:spcAft>
                <a:spcPts val="0"/>
              </a:spcAft>
              <a:buNone/>
            </a:pPr>
            <a:r>
              <a:rPr lang="en" sz="1219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Regret</a:t>
            </a:r>
            <a:endParaRPr sz="1219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94"/>
              </a:spcBef>
              <a:spcAft>
                <a:spcPts val="0"/>
              </a:spcAft>
              <a:buNone/>
            </a:pPr>
            <a:endParaRPr sz="1373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  <a:p>
            <a:pPr marL="0" lvl="0" indent="0" algn="l" rtl="0">
              <a:lnSpc>
                <a:spcPct val="115000"/>
              </a:lnSpc>
              <a:spcBef>
                <a:spcPts val="196"/>
              </a:spcBef>
              <a:spcAft>
                <a:spcPts val="196"/>
              </a:spcAft>
              <a:buNone/>
            </a:pPr>
            <a:endParaRPr sz="1373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pic>
        <p:nvPicPr>
          <p:cNvPr id="504" name="Google Shape;50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855" y="1881014"/>
            <a:ext cx="1673934" cy="275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3246" y="1881014"/>
            <a:ext cx="1154105" cy="294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57"/>
          <p:cNvPicPr preferRelativeResize="0"/>
          <p:nvPr/>
        </p:nvPicPr>
        <p:blipFill rotWithShape="1">
          <a:blip r:embed="rId5">
            <a:alphaModFix/>
          </a:blip>
          <a:srcRect b="17999"/>
          <a:stretch/>
        </p:blipFill>
        <p:spPr>
          <a:xfrm>
            <a:off x="1549620" y="2175196"/>
            <a:ext cx="2178568" cy="206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28189" y="2196330"/>
            <a:ext cx="2178568" cy="164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25024" y="1905800"/>
            <a:ext cx="1787145" cy="232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88244" y="2426139"/>
            <a:ext cx="1624600" cy="294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57"/>
          <p:cNvPicPr preferRelativeResize="0"/>
          <p:nvPr/>
        </p:nvPicPr>
        <p:blipFill rotWithShape="1">
          <a:blip r:embed="rId9">
            <a:alphaModFix/>
          </a:blip>
          <a:srcRect b="10"/>
          <a:stretch/>
        </p:blipFill>
        <p:spPr>
          <a:xfrm>
            <a:off x="3819794" y="2358194"/>
            <a:ext cx="2371078" cy="447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5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41252" y="2482336"/>
            <a:ext cx="2006117" cy="206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5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867809" y="2764773"/>
            <a:ext cx="735690" cy="206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5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316062" y="2765869"/>
            <a:ext cx="2371075" cy="232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5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28286" y="3044249"/>
            <a:ext cx="693116" cy="219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5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721404" y="3007116"/>
            <a:ext cx="1937974" cy="350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5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651698" y="3035373"/>
            <a:ext cx="780716" cy="294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5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544597" y="3025200"/>
            <a:ext cx="2006125" cy="290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5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518825" y="3329475"/>
            <a:ext cx="202640" cy="23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5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401550" y="3100325"/>
            <a:ext cx="143056" cy="16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7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688250" y="3300115"/>
            <a:ext cx="1411225" cy="262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5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099473" y="3332825"/>
            <a:ext cx="857413" cy="22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8"/>
          <p:cNvSpPr txBox="1">
            <a:spLocks noGrp="1"/>
          </p:cNvSpPr>
          <p:nvPr>
            <p:ph type="title"/>
          </p:nvPr>
        </p:nvSpPr>
        <p:spPr>
          <a:xfrm>
            <a:off x="3802325" y="-734800"/>
            <a:ext cx="59775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Truthful Seller </a:t>
            </a:r>
            <a:endParaRPr sz="2400"/>
          </a:p>
        </p:txBody>
      </p:sp>
      <p:sp>
        <p:nvSpPr>
          <p:cNvPr id="527" name="Google Shape;527;p58"/>
          <p:cNvSpPr txBox="1"/>
          <p:nvPr/>
        </p:nvSpPr>
        <p:spPr>
          <a:xfrm>
            <a:off x="888750" y="676900"/>
            <a:ext cx="3224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Monotone Bid Price Algorithm</a:t>
            </a:r>
            <a:endParaRPr sz="16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28" name="Google Shape;528;p58"/>
          <p:cNvSpPr txBox="1"/>
          <p:nvPr/>
        </p:nvSpPr>
        <p:spPr>
          <a:xfrm>
            <a:off x="888750" y="1108000"/>
            <a:ext cx="7953300" cy="39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75" tIns="95175" rIns="95175" bIns="951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57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Lower bound </a:t>
            </a:r>
            <a:r>
              <a:rPr lang="en" sz="1457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 sz="1457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</a:t>
            </a:r>
            <a:r>
              <a:rPr lang="en" sz="1457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249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lang="en" sz="1249" baseline="30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</a:t>
            </a:r>
            <a:r>
              <a:rPr lang="en" sz="1249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lang="en" sz="1457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,   , </a:t>
            </a:r>
            <a:r>
              <a:rPr lang="en" sz="1353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Regret</a:t>
            </a:r>
            <a:r>
              <a:rPr lang="en" sz="1457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                		,             </a:t>
            </a:r>
            <a:r>
              <a:rPr lang="en" sz="1353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and for </a:t>
            </a:r>
            <a:endParaRPr sz="1457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57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   </a:t>
            </a:r>
            <a:endParaRPr sz="1353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 	                , E[Regret]  =</a:t>
            </a:r>
            <a:endParaRPr sz="135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Regret		       where 			       and 			   using Cauchy Schwarz</a:t>
            </a:r>
            <a:endParaRPr sz="135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									</a:t>
            </a:r>
            <a:endParaRPr sz="135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By substituting    </a:t>
            </a:r>
            <a:endParaRPr sz="135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(We have assumed that												      )												</a:t>
            </a:r>
            <a:endParaRPr sz="135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457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08"/>
              </a:spcBef>
              <a:spcAft>
                <a:spcPts val="208"/>
              </a:spcAft>
              <a:buNone/>
            </a:pPr>
            <a:endParaRPr sz="1457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pic>
        <p:nvPicPr>
          <p:cNvPr id="529" name="Google Shape;529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2594" y="1530995"/>
            <a:ext cx="453738" cy="250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6984" y="1530993"/>
            <a:ext cx="2575503" cy="250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2014" y="1781131"/>
            <a:ext cx="3495398" cy="321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33198" y="1522543"/>
            <a:ext cx="1952064" cy="250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58"/>
          <p:cNvPicPr preferRelativeResize="0"/>
          <p:nvPr/>
        </p:nvPicPr>
        <p:blipFill rotWithShape="1">
          <a:blip r:embed="rId7">
            <a:alphaModFix/>
          </a:blip>
          <a:srcRect l="40191"/>
          <a:stretch/>
        </p:blipFill>
        <p:spPr>
          <a:xfrm>
            <a:off x="4607391" y="1781132"/>
            <a:ext cx="1933932" cy="321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89293" y="1781131"/>
            <a:ext cx="1239845" cy="321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97518" y="2204134"/>
            <a:ext cx="723893" cy="203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99437" y="3884475"/>
            <a:ext cx="5332050" cy="21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5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058139" y="2145095"/>
            <a:ext cx="1409625" cy="321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5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467771" y="2180855"/>
            <a:ext cx="1423582" cy="250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58"/>
          <p:cNvPicPr preferRelativeResize="0"/>
          <p:nvPr/>
        </p:nvPicPr>
        <p:blipFill rotWithShape="1">
          <a:blip r:embed="rId13">
            <a:alphaModFix/>
          </a:blip>
          <a:srcRect l="2557" t="11883" r="3085" b="12330"/>
          <a:stretch/>
        </p:blipFill>
        <p:spPr>
          <a:xfrm>
            <a:off x="2763650" y="2919450"/>
            <a:ext cx="2575525" cy="459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5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832668" y="2111259"/>
            <a:ext cx="1813037" cy="389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5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587626" y="2111252"/>
            <a:ext cx="1075611" cy="38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5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16250" y="2509058"/>
            <a:ext cx="1075612" cy="302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58"/>
          <p:cNvPicPr preferRelativeResize="0"/>
          <p:nvPr/>
        </p:nvPicPr>
        <p:blipFill rotWithShape="1">
          <a:blip r:embed="rId17">
            <a:alphaModFix/>
          </a:blip>
          <a:srcRect t="13247" r="6156"/>
          <a:stretch/>
        </p:blipFill>
        <p:spPr>
          <a:xfrm>
            <a:off x="3094976" y="2474988"/>
            <a:ext cx="1335975" cy="37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58"/>
          <p:cNvPicPr preferRelativeResize="0"/>
          <p:nvPr/>
        </p:nvPicPr>
        <p:blipFill rotWithShape="1">
          <a:blip r:embed="rId18">
            <a:alphaModFix/>
          </a:blip>
          <a:srcRect l="7589" t="18108" r="11751" b="12773"/>
          <a:stretch/>
        </p:blipFill>
        <p:spPr>
          <a:xfrm>
            <a:off x="4746230" y="2483139"/>
            <a:ext cx="1366923" cy="3711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5" name="Google Shape;545;p58"/>
          <p:cNvCxnSpPr/>
          <p:nvPr/>
        </p:nvCxnSpPr>
        <p:spPr>
          <a:xfrm rot="10800000" flipH="1">
            <a:off x="3958500" y="2906388"/>
            <a:ext cx="1227000" cy="2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46" name="Google Shape;546;p58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188738" y="3371852"/>
            <a:ext cx="3271989" cy="51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58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460725" y="3280125"/>
            <a:ext cx="1813050" cy="60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9"/>
          <p:cNvSpPr txBox="1">
            <a:spLocks noGrp="1"/>
          </p:cNvSpPr>
          <p:nvPr>
            <p:ph type="title"/>
          </p:nvPr>
        </p:nvSpPr>
        <p:spPr>
          <a:xfrm>
            <a:off x="3834250" y="-757500"/>
            <a:ext cx="59775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Strategic Seller </a:t>
            </a:r>
            <a:endParaRPr sz="2400"/>
          </a:p>
        </p:txBody>
      </p:sp>
      <p:sp>
        <p:nvSpPr>
          <p:cNvPr id="553" name="Google Shape;553;p59"/>
          <p:cNvSpPr txBox="1"/>
          <p:nvPr/>
        </p:nvSpPr>
        <p:spPr>
          <a:xfrm>
            <a:off x="823875" y="1051350"/>
            <a:ext cx="3190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Monotone Bid Price Algorithm</a:t>
            </a:r>
            <a:endParaRPr sz="16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4" name="Google Shape;554;p59"/>
          <p:cNvSpPr txBox="1"/>
          <p:nvPr/>
        </p:nvSpPr>
        <p:spPr>
          <a:xfrm>
            <a:off x="884050" y="670425"/>
            <a:ext cx="6778500" cy="30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Proof of Lower Bound</a:t>
            </a: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Using 			      to get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Regret   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By taking						 and thus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Regret 			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By optimising k</a:t>
            </a:r>
            <a:r>
              <a:rPr lang="en" baseline="30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</a:t>
            </a: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Regret</a:t>
            </a:r>
            <a:endParaRPr baseline="30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55" name="Google Shape;55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400" y="1746963"/>
            <a:ext cx="1582475" cy="447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59"/>
          <p:cNvPicPr preferRelativeResize="0"/>
          <p:nvPr/>
        </p:nvPicPr>
        <p:blipFill rotWithShape="1">
          <a:blip r:embed="rId4">
            <a:alphaModFix/>
          </a:blip>
          <a:srcRect l="-2092"/>
          <a:stretch/>
        </p:blipFill>
        <p:spPr>
          <a:xfrm>
            <a:off x="3447800" y="1838513"/>
            <a:ext cx="2614250" cy="2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4050" y="2194600"/>
            <a:ext cx="2166241" cy="2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80300" y="2221250"/>
            <a:ext cx="2381750" cy="211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62050" y="2194597"/>
            <a:ext cx="591291" cy="2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5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78250" y="2459125"/>
            <a:ext cx="2614250" cy="249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92500" y="2507549"/>
            <a:ext cx="472157" cy="21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5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53000" y="2735725"/>
            <a:ext cx="2439509" cy="2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5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75150" y="2695800"/>
            <a:ext cx="834350" cy="3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5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03700" y="2680722"/>
            <a:ext cx="2166250" cy="374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5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612550" y="2762375"/>
            <a:ext cx="234694" cy="21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5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514050" y="2973600"/>
            <a:ext cx="2141491" cy="3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55550" y="3026899"/>
            <a:ext cx="472157" cy="21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5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97983" y="3303900"/>
            <a:ext cx="2268620" cy="34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0"/>
          <p:cNvSpPr txBox="1">
            <a:spLocks noGrp="1"/>
          </p:cNvSpPr>
          <p:nvPr>
            <p:ph type="title"/>
          </p:nvPr>
        </p:nvSpPr>
        <p:spPr>
          <a:xfrm>
            <a:off x="3802325" y="-734800"/>
            <a:ext cx="59775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Strategic Seller </a:t>
            </a:r>
            <a:endParaRPr sz="2400"/>
          </a:p>
        </p:txBody>
      </p:sp>
      <p:sp>
        <p:nvSpPr>
          <p:cNvPr id="574" name="Google Shape;574;p60"/>
          <p:cNvSpPr txBox="1"/>
          <p:nvPr/>
        </p:nvSpPr>
        <p:spPr>
          <a:xfrm>
            <a:off x="888750" y="676900"/>
            <a:ext cx="3224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Monotone Bid Price Algorithm</a:t>
            </a:r>
            <a:endParaRPr sz="1700"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75" name="Google Shape;575;p60"/>
          <p:cNvSpPr txBox="1"/>
          <p:nvPr/>
        </p:nvSpPr>
        <p:spPr>
          <a:xfrm>
            <a:off x="933250" y="1181100"/>
            <a:ext cx="5913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76" name="Google Shape;57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750" y="1181100"/>
            <a:ext cx="6722401" cy="278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7600" y="1581300"/>
            <a:ext cx="6593549" cy="744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6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Explore Exploit Multi Stage Algorithm for Stochastic SPA</a:t>
            </a:r>
            <a:endParaRPr sz="2400"/>
          </a:p>
        </p:txBody>
      </p:sp>
      <p:sp>
        <p:nvSpPr>
          <p:cNvPr id="583" name="Google Shape;583;p61"/>
          <p:cNvSpPr txBox="1"/>
          <p:nvPr/>
        </p:nvSpPr>
        <p:spPr>
          <a:xfrm>
            <a:off x="5246625" y="1534700"/>
            <a:ext cx="3600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ommissioner"/>
              <a:ea typeface="Commissioner"/>
              <a:cs typeface="Commissioner"/>
              <a:sym typeface="Commissioner"/>
            </a:endParaRPr>
          </a:p>
        </p:txBody>
      </p:sp>
      <p:pic>
        <p:nvPicPr>
          <p:cNvPr id="584" name="Google Shape;584;p61"/>
          <p:cNvPicPr preferRelativeResize="0"/>
          <p:nvPr/>
        </p:nvPicPr>
        <p:blipFill rotWithShape="1">
          <a:blip r:embed="rId3">
            <a:alphaModFix/>
          </a:blip>
          <a:srcRect l="17491" t="14341" r="24991" b="47445"/>
          <a:stretch/>
        </p:blipFill>
        <p:spPr>
          <a:xfrm>
            <a:off x="722950" y="625450"/>
            <a:ext cx="3992601" cy="374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61"/>
          <p:cNvPicPr preferRelativeResize="0"/>
          <p:nvPr/>
        </p:nvPicPr>
        <p:blipFill rotWithShape="1">
          <a:blip r:embed="rId3">
            <a:alphaModFix/>
          </a:blip>
          <a:srcRect l="17491" t="52241" r="24991" b="19172"/>
          <a:stretch/>
        </p:blipFill>
        <p:spPr>
          <a:xfrm>
            <a:off x="4854625" y="625450"/>
            <a:ext cx="4222326" cy="29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61"/>
          <p:cNvSpPr txBox="1">
            <a:spLocks noGrp="1"/>
          </p:cNvSpPr>
          <p:nvPr>
            <p:ph type="subTitle" idx="1"/>
          </p:nvPr>
        </p:nvSpPr>
        <p:spPr>
          <a:xfrm>
            <a:off x="954650" y="4499225"/>
            <a:ext cx="81423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For FPA the Loss term is bounded by C</a:t>
            </a:r>
            <a:r>
              <a:rPr lang="en" sz="1250" baseline="-25000">
                <a:latin typeface="Cambria"/>
                <a:ea typeface="Cambria"/>
                <a:cs typeface="Cambria"/>
                <a:sym typeface="Cambria"/>
              </a:rPr>
              <a:t>δ,i</a:t>
            </a: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 while its 2.C</a:t>
            </a:r>
            <a:r>
              <a:rPr lang="en" sz="1250" baseline="-25000">
                <a:latin typeface="Cambria"/>
                <a:ea typeface="Cambria"/>
                <a:cs typeface="Cambria"/>
                <a:sym typeface="Cambria"/>
              </a:rPr>
              <a:t>δ,i</a:t>
            </a: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 for SPA</a:t>
            </a:r>
            <a:endParaRPr sz="125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6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Explore Exploit Multi Stage Algorithm for Stochastic SPA</a:t>
            </a:r>
            <a:endParaRPr sz="2400"/>
          </a:p>
        </p:txBody>
      </p:sp>
      <p:sp>
        <p:nvSpPr>
          <p:cNvPr id="592" name="Google Shape;592;p62"/>
          <p:cNvSpPr txBox="1"/>
          <p:nvPr/>
        </p:nvSpPr>
        <p:spPr>
          <a:xfrm>
            <a:off x="5246625" y="1534700"/>
            <a:ext cx="3600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ommissioner"/>
              <a:ea typeface="Commissioner"/>
              <a:cs typeface="Commissioner"/>
              <a:sym typeface="Commissioner"/>
            </a:endParaRPr>
          </a:p>
        </p:txBody>
      </p:sp>
      <p:pic>
        <p:nvPicPr>
          <p:cNvPr id="593" name="Google Shape;593;p62"/>
          <p:cNvPicPr preferRelativeResize="0"/>
          <p:nvPr/>
        </p:nvPicPr>
        <p:blipFill rotWithShape="1">
          <a:blip r:embed="rId3">
            <a:alphaModFix/>
          </a:blip>
          <a:srcRect l="20250" t="44192" r="30811" b="28433"/>
          <a:stretch/>
        </p:blipFill>
        <p:spPr>
          <a:xfrm>
            <a:off x="4765000" y="796315"/>
            <a:ext cx="3834374" cy="3031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62"/>
          <p:cNvPicPr preferRelativeResize="0"/>
          <p:nvPr/>
        </p:nvPicPr>
        <p:blipFill rotWithShape="1">
          <a:blip r:embed="rId3">
            <a:alphaModFix/>
          </a:blip>
          <a:srcRect l="20250" t="14073" r="30811" b="55706"/>
          <a:stretch/>
        </p:blipFill>
        <p:spPr>
          <a:xfrm>
            <a:off x="863000" y="692225"/>
            <a:ext cx="3834374" cy="334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62"/>
          <p:cNvSpPr txBox="1">
            <a:spLocks noGrp="1"/>
          </p:cNvSpPr>
          <p:nvPr>
            <p:ph type="subTitle" idx="1"/>
          </p:nvPr>
        </p:nvSpPr>
        <p:spPr>
          <a:xfrm>
            <a:off x="954650" y="4499225"/>
            <a:ext cx="81423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In regret expression, T</a:t>
            </a:r>
            <a:r>
              <a:rPr lang="en" sz="1250" baseline="-25000"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=T </a:t>
            </a:r>
            <a:r>
              <a:rPr lang="en" sz="1250" baseline="30000">
                <a:latin typeface="Cambria"/>
                <a:ea typeface="Cambria"/>
                <a:cs typeface="Cambria"/>
                <a:sym typeface="Cambria"/>
              </a:rPr>
              <a:t>1-(½)^i</a:t>
            </a: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/|S</a:t>
            </a:r>
            <a:r>
              <a:rPr lang="en" sz="1250" baseline="-25000"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| for round,i for each element in S</a:t>
            </a:r>
            <a:r>
              <a:rPr lang="en" sz="1250" baseline="-25000"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 , </a:t>
            </a:r>
            <a:endParaRPr sz="125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8 becomes 4 and a factor of √M gets added in 2</a:t>
            </a:r>
            <a:r>
              <a:rPr lang="en" sz="1250" baseline="30000">
                <a:latin typeface="Cambria"/>
                <a:ea typeface="Cambria"/>
                <a:cs typeface="Cambria"/>
                <a:sym typeface="Cambria"/>
              </a:rPr>
              <a:t>nd </a:t>
            </a:r>
            <a:r>
              <a:rPr lang="en" sz="1250">
                <a:latin typeface="Cambria"/>
                <a:ea typeface="Cambria"/>
                <a:cs typeface="Cambria"/>
                <a:sym typeface="Cambria"/>
              </a:rPr>
              <a:t>term of regret</a:t>
            </a:r>
            <a:endParaRPr sz="125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3"/>
          <p:cNvSpPr txBox="1"/>
          <p:nvPr/>
        </p:nvSpPr>
        <p:spPr>
          <a:xfrm>
            <a:off x="3503100" y="1619050"/>
            <a:ext cx="5010000" cy="18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Thank You</a:t>
            </a:r>
            <a:endParaRPr sz="3600" b="1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1489</Words>
  <Application>Microsoft Office PowerPoint</Application>
  <PresentationFormat>On-screen Show (16:9)</PresentationFormat>
  <Paragraphs>199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Red Hat Display</vt:lpstr>
      <vt:lpstr>Commissioner</vt:lpstr>
      <vt:lpstr>Arial</vt:lpstr>
      <vt:lpstr>Golos Text SemiBold</vt:lpstr>
      <vt:lpstr>Golos Text</vt:lpstr>
      <vt:lpstr>Chivo</vt:lpstr>
      <vt:lpstr>Cambria</vt:lpstr>
      <vt:lpstr>Formulating a Research Problem for University Students by Slidesgo</vt:lpstr>
      <vt:lpstr>Learning to Bid in  Repeated Auctions with  Hidden Reserve Prices</vt:lpstr>
      <vt:lpstr>Contents of this Presentation</vt:lpstr>
      <vt:lpstr>Introduction</vt:lpstr>
      <vt:lpstr>First Price Auction</vt:lpstr>
      <vt:lpstr>Second Price Auction</vt:lpstr>
      <vt:lpstr>Setup</vt:lpstr>
      <vt:lpstr>Setup</vt:lpstr>
      <vt:lpstr>Online Learning  in Auctions</vt:lpstr>
      <vt:lpstr>Multi-armed bandits</vt:lpstr>
      <vt:lpstr>Online Repeated Auctions</vt:lpstr>
      <vt:lpstr> Online Learning in Auctions</vt:lpstr>
      <vt:lpstr>Fixed Hidden  Reserve Price FPA </vt:lpstr>
      <vt:lpstr>Truthful Seller </vt:lpstr>
      <vt:lpstr>Strategic Seller </vt:lpstr>
      <vt:lpstr>Truthful Seller </vt:lpstr>
      <vt:lpstr>Strategic Seller </vt:lpstr>
      <vt:lpstr>Reserve Prices drawn from Distribution</vt:lpstr>
      <vt:lpstr>Explore then Commit Algorithm</vt:lpstr>
      <vt:lpstr>Explore Exploit Multi Stage Algorithm</vt:lpstr>
      <vt:lpstr>Comparative Study</vt:lpstr>
      <vt:lpstr>Exploratory Questions</vt:lpstr>
      <vt:lpstr>PowerPoint Presentation</vt:lpstr>
      <vt:lpstr>Truthful Seller </vt:lpstr>
      <vt:lpstr>Truthful Seller </vt:lpstr>
      <vt:lpstr>Strategic Seller </vt:lpstr>
      <vt:lpstr>Strategic Seller </vt:lpstr>
      <vt:lpstr>Explore Exploit Multi Stage Algorithm for Stochastic SPA</vt:lpstr>
      <vt:lpstr>Explore Exploit Multi Stage Algorithm for Stochastic SPA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Shri Prathaa M</cp:lastModifiedBy>
  <cp:revision>2</cp:revision>
  <dcterms:modified xsi:type="dcterms:W3CDTF">2025-12-17T17:32:18Z</dcterms:modified>
</cp:coreProperties>
</file>